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Nous sommes trois étudiants de l'ISGA. Notre projet s'appelle « AI Class Attendance ». C'est un système pour faire la présence en classe avec la reconnaissance des visages. Je vais vous présenter notre travail.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plan. D'abord, le contexte et le problème. Ensuite, les objectifs et l'état de l'art. Puis, la conception et la réalisation. Après, une démonstration et les résultats. Et pour finir,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Aujourd'hui, l'appel se fait à la main. Cela prend cinq à dix minutes par séance. C'est une perte de temps. Il y a aussi la fraude : un étudiant peut répondre pour un absent. Et les feuilles de papier se perdent. Notre question est simple : comment faire la présence de façon rapide, fiable et éthique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 objectifs sont clairs. Reconnaître les étudiants à partir d'une photo de la classe. Enregistrer les présences. Et donner un tableau de bord à l'enseignant. Le système doit marcher sur un ordinateur normal. Et il doit respecter la loi sur les données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reconnaissance suit quatre étapes : détecter, aligner, créer une empreinte, puis comparer. Nous utilisons deux modèles connus : RetinaFace pour détecter, et ArcFace pour reconnaître. Ils ont une précision très élevée. Nous n'avons pas créé un nouveau modèle. Nous avons pris les meilleurs qui existent déjà.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Il y a trois couches. La première, c'est l'interface web, pour l'enseignant. La deuxième, c'est le serveur, avec le moteur d'intelligence artificielle. La troisième, c'est la base de données. Cette séparation rend le système clair et facile à améliorer.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acteurs. L'enseignant lance la présence et valide la liste. L'administrateur gère les étudiants. L'étudiant consulte son taux de présence. Un point important : le système propose, mais c'est toujours l'enseignant qui valide.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réalisation, nous avons utilisé le langage Python. Le moteur d'IA est la bibliothèque InsightFace. Le serveur utilise FastAPI, avec une base de données SQLite. Il y a aussi les exports Excel et PDF, et un module contre la fraude. Le principe : le système propose, l'enseignant valide, puis on enregistre.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une démonstration réelle. L'enseignant importe une photo de la classe. Le système détecte les visages et écrit le nom de chaque étudiant. On voit aussi le score. L'enseignant coche les présents, puis il valide. C'est simple et rapide.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tester, nous avons utilisé un jeu de données public : LFW. Sur quinze personnes et cinquante-six photos, la précision est de cent pour cent. Sur ce graphe, on voit deux groupes bien séparés. À gauche, des personnes différentes. À droite, la même personne. La décision est donc facile et sûre.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nous choisissons le seuil de décision. Dans une large zone, il n'y a aucune erreur. Nous avons choisi la valeur du milieu, zéro virgule trente-cinq, pour être sûrs.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aussi testé avec plusieurs visages sur une même photo. Six étudiants, et deux personnes non inscrites. Le système reconnaît les six étudiants. Et il rejette les deux intrus, marqués « Inconnu ». Le temps de traitement est d'environ deux secondes.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visage est une donnée personnelle sensible. Au Maroc, la loi zéro neuf zéro huit s'applique. Nous demandons donc le consentement écrit. Nous gardons les empreintes, pas les images. Et chaque personne peut supprimer ses données quand elle veut.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nous avons une application complète : de l'enrôlement jusqu'aux rapports. Le cœur du système fonctionne très bien, avec cent pour cent en conditions contrôlées. Comme perspectives : tester dans une vraie salle de classe, et ajouter la reconnaissance en temps réel avec une webcam.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beaucoup de votre attention. Nous sommes maintenant prêts à répondre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074920" y="777240"/>
            <a:ext cx="2734056" cy="1051560"/>
          </a:xfrm>
          <a:prstGeom prst="rect">
            <a:avLst/>
          </a:prstGeom>
        </p:spPr>
      </p:pic>
      <p:sp>
        <p:nvSpPr>
          <p:cNvPr id="5" name="TextBox 4"/>
          <p:cNvSpPr txBox="1"/>
          <p:nvPr/>
        </p:nvSpPr>
        <p:spPr>
          <a:xfrm>
            <a:off x="914400" y="2286000"/>
            <a:ext cx="10360152" cy="1737360"/>
          </a:xfrm>
          <a:prstGeom prst="rect">
            <a:avLst/>
          </a:prstGeom>
          <a:noFill/>
        </p:spPr>
        <p:txBody>
          <a:bodyPr wrap="square">
            <a:spAutoFit/>
          </a:bodyPr>
          <a:lstStyle/>
          <a:p>
            <a:pPr algn="ctr"/>
            <a:r>
              <a:rPr sz="3400" b="1" i="0">
                <a:solidFill>
                  <a:srgbClr val="FFFFFF"/>
                </a:solidFill>
                <a:latin typeface="Calibri"/>
              </a:rPr>
              <a:t>Système intelligent de gestion des présences</a:t>
            </a:r>
          </a:p>
          <a:p>
            <a:pPr algn="ctr"/>
            <a:r>
              <a:rPr sz="3400" b="1" i="0">
                <a:solidFill>
                  <a:srgbClr val="FFFFFF"/>
                </a:solidFill>
                <a:latin typeface="Calibri"/>
              </a:rPr>
              <a:t>par reconnaissance faciale</a:t>
            </a:r>
          </a:p>
          <a:p>
            <a:pPr algn="ctr">
              <a:spcBef>
                <a:spcPts val="1400"/>
              </a:spcBef>
            </a:pPr>
            <a:r>
              <a:rPr sz="1800" b="0" i="1">
                <a:solidFill>
                  <a:srgbClr val="BED0E8"/>
                </a:solidFill>
                <a:latin typeface="Calibri"/>
              </a:rPr>
              <a:t>« AI Class Attendance for Students »</a:t>
            </a:r>
          </a:p>
        </p:txBody>
      </p:sp>
      <p:sp>
        <p:nvSpPr>
          <p:cNvPr id="6" name="TextBox 5"/>
          <p:cNvSpPr txBox="1"/>
          <p:nvPr/>
        </p:nvSpPr>
        <p:spPr>
          <a:xfrm>
            <a:off x="914400" y="4709160"/>
            <a:ext cx="10360152" cy="1554480"/>
          </a:xfrm>
          <a:prstGeom prst="rect">
            <a:avLst/>
          </a:prstGeom>
          <a:noFill/>
        </p:spPr>
        <p:txBody>
          <a:bodyPr wrap="square">
            <a:spAutoFit/>
          </a:bodyPr>
          <a:lstStyle/>
          <a:p>
            <a:pPr algn="ctr"/>
            <a:r>
              <a:rPr sz="1500" b="0" i="0">
                <a:solidFill>
                  <a:srgbClr val="D7E0EF"/>
                </a:solidFill>
                <a:latin typeface="Calibri"/>
              </a:rPr>
              <a:t>Projet de Fin d'Année — Cycle d'ingénieur (2ᵉ année) — 2025 / 2026</a:t>
            </a:r>
          </a:p>
          <a:p>
            <a:pPr algn="ctr">
              <a:spcBef>
                <a:spcPts val="1200"/>
              </a:spcBef>
            </a:pPr>
            <a:r>
              <a:rPr sz="1500" b="1" i="0">
                <a:solidFill>
                  <a:srgbClr val="FFFFFF"/>
                </a:solidFill>
                <a:latin typeface="Calibri"/>
              </a:rPr>
              <a:t>Réalisé par : </a:t>
            </a:r>
            <a:r>
              <a:rPr sz="1500" b="0" i="0">
                <a:solidFill>
                  <a:srgbClr val="FFFFFF"/>
                </a:solidFill>
                <a:latin typeface="Calibri"/>
              </a:rPr>
              <a:t>BENDADI Mohamed · SADEK Zakaria · BELHASSAN Amine</a:t>
            </a:r>
          </a:p>
          <a:p>
            <a:pPr algn="ctr">
              <a:spcBef>
                <a:spcPts val="400"/>
              </a:spcBef>
            </a:pPr>
            <a:r>
              <a:rPr sz="1500" b="1" i="0">
                <a:solidFill>
                  <a:srgbClr val="FFFFFF"/>
                </a:solidFill>
                <a:latin typeface="Calibri"/>
              </a:rPr>
              <a:t>Encadré par : </a:t>
            </a:r>
            <a:r>
              <a:rPr sz="1500" b="0" i="0">
                <a:solidFill>
                  <a:srgbClr val="FFFFFF"/>
                </a:solidFill>
                <a:latin typeface="Calibri"/>
              </a:rPr>
              <a:t>M. Adama SAMAKE</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Plan de la présentation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0058400" cy="4297680"/>
          </a:xfrm>
          <a:prstGeom prst="rect">
            <a:avLst/>
          </a:prstGeom>
          <a:noFill/>
        </p:spPr>
        <p:txBody>
          <a:bodyPr wrap="square">
            <a:spAutoFit/>
          </a:bodyPr>
          <a:lstStyle/>
          <a:p>
            <a:pPr>
              <a:spcAft>
                <a:spcPts val="1000"/>
              </a:spcAft>
            </a:pPr>
            <a:r>
              <a:rPr sz="1900" b="0" i="0">
                <a:solidFill>
                  <a:srgbClr val="20242B"/>
                </a:solidFill>
                <a:latin typeface="Calibri"/>
              </a:rPr>
              <a:t>1.  Contexte &amp; problématique</a:t>
            </a:r>
          </a:p>
          <a:p>
            <a:pPr>
              <a:spcAft>
                <a:spcPts val="1000"/>
              </a:spcAft>
            </a:pPr>
            <a:r>
              <a:rPr sz="1900" b="0" i="0">
                <a:solidFill>
                  <a:srgbClr val="20242B"/>
                </a:solidFill>
                <a:latin typeface="Calibri"/>
              </a:rPr>
              <a:t>2.  Objectifs du projet</a:t>
            </a:r>
          </a:p>
          <a:p>
            <a:pPr>
              <a:spcAft>
                <a:spcPts val="1000"/>
              </a:spcAft>
            </a:pPr>
            <a:r>
              <a:rPr sz="1900" b="0" i="0">
                <a:solidFill>
                  <a:srgbClr val="20242B"/>
                </a:solidFill>
                <a:latin typeface="Calibri"/>
              </a:rPr>
              <a:t>3.  État de l'art</a:t>
            </a:r>
          </a:p>
          <a:p>
            <a:pPr>
              <a:spcAft>
                <a:spcPts val="1000"/>
              </a:spcAft>
            </a:pPr>
            <a:r>
              <a:rPr sz="1900" b="0" i="0">
                <a:solidFill>
                  <a:srgbClr val="20242B"/>
                </a:solidFill>
                <a:latin typeface="Calibri"/>
              </a:rPr>
              <a:t>4.  Conception du système</a:t>
            </a:r>
          </a:p>
          <a:p>
            <a:pPr>
              <a:spcAft>
                <a:spcPts val="1000"/>
              </a:spcAft>
            </a:pPr>
            <a:r>
              <a:rPr sz="1900" b="0" i="0">
                <a:solidFill>
                  <a:srgbClr val="20242B"/>
                </a:solidFill>
                <a:latin typeface="Calibri"/>
              </a:rPr>
              <a:t>5.  Implémentation</a:t>
            </a:r>
          </a:p>
          <a:p>
            <a:pPr>
              <a:spcAft>
                <a:spcPts val="1000"/>
              </a:spcAft>
            </a:pPr>
            <a:r>
              <a:rPr sz="1900" b="0" i="0">
                <a:solidFill>
                  <a:srgbClr val="20242B"/>
                </a:solidFill>
                <a:latin typeface="Calibri"/>
              </a:rPr>
              <a:t>6.  Démonstration</a:t>
            </a:r>
          </a:p>
          <a:p>
            <a:pPr>
              <a:spcAft>
                <a:spcPts val="1000"/>
              </a:spcAft>
            </a:pPr>
            <a:r>
              <a:rPr sz="1900" b="0" i="0">
                <a:solidFill>
                  <a:srgbClr val="20242B"/>
                </a:solidFill>
                <a:latin typeface="Calibri"/>
              </a:rPr>
              <a:t>7.  Résultats &amp; évaluation</a:t>
            </a:r>
          </a:p>
          <a:p>
            <a:pPr>
              <a:spcAft>
                <a:spcPts val="1000"/>
              </a:spcAft>
            </a:pPr>
            <a:r>
              <a:rPr sz="1900" b="0" i="0">
                <a:solidFill>
                  <a:srgbClr val="20242B"/>
                </a:solidFill>
                <a:latin typeface="Calibri"/>
              </a:rPr>
              <a:t>8.  Éthique &amp; conformité (loi 09-08)</a:t>
            </a:r>
          </a:p>
          <a:p>
            <a:pPr>
              <a:spcAft>
                <a:spcPts val="1000"/>
              </a:spcAft>
            </a:pPr>
            <a:r>
              <a:rPr sz="1900" b="0" i="0">
                <a:solidFill>
                  <a:srgbClr val="20242B"/>
                </a:solidFill>
                <a:latin typeface="Calibri"/>
              </a:rPr>
              <a:t>9.  Conclusion &amp; perspectives</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1. Contexte &amp; problématique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L'appel manuel mobilise 5 à 10 minutes par séance — autant de temps pédagogique perdu.</a:t>
            </a:r>
          </a:p>
          <a:p>
            <a:pPr indent="-274320" marL="274320">
              <a:lnSpc>
                <a:spcPct val="112000"/>
              </a:lnSpc>
              <a:spcAft>
                <a:spcPts val="1400"/>
              </a:spcAft>
              <a:buClr>
                <a:srgbClr val="4F81BD"/>
              </a:buClr>
              <a:buFont typeface="Arial"/>
              <a:buChar char="▪"/>
            </a:pPr>
            <a:r>
              <a:rPr sz="1900" b="0" i="0">
                <a:solidFill>
                  <a:srgbClr val="20242B"/>
                </a:solidFill>
                <a:latin typeface="Calibri"/>
              </a:rPr>
              <a:t>La fraude par procuration (proxy attendance) : un étudiant répond ou signe pour un absent.</a:t>
            </a:r>
          </a:p>
          <a:p>
            <a:pPr indent="-274320" marL="274320">
              <a:lnSpc>
                <a:spcPct val="112000"/>
              </a:lnSpc>
              <a:spcAft>
                <a:spcPts val="1400"/>
              </a:spcAft>
              <a:buClr>
                <a:srgbClr val="4F81BD"/>
              </a:buClr>
              <a:buFont typeface="Arial"/>
              <a:buChar char="▪"/>
            </a:pPr>
            <a:r>
              <a:rPr sz="1900" b="0" i="0">
                <a:solidFill>
                  <a:srgbClr val="20242B"/>
                </a:solidFill>
                <a:latin typeface="Calibri"/>
              </a:rPr>
              <a:t>Les feuilles papier se perdent, se raturent, et ne produisent aucune statistique.</a:t>
            </a:r>
          </a:p>
          <a:p>
            <a:pPr indent="-274320" marL="274320">
              <a:lnSpc>
                <a:spcPct val="112000"/>
              </a:lnSpc>
              <a:spcAft>
                <a:spcPts val="1400"/>
              </a:spcAft>
              <a:buClr>
                <a:srgbClr val="4F81BD"/>
              </a:buClr>
              <a:buFont typeface="Arial"/>
              <a:buChar char="▪"/>
            </a:pPr>
            <a:r>
              <a:rPr sz="1900" b="0" i="0">
                <a:solidFill>
                  <a:srgbClr val="20242B"/>
                </a:solidFill>
                <a:latin typeface="Calibri"/>
              </a:rPr>
              <a:t>Comment automatiser l'appel de façon fiable, rapide et éthique ?</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2. Objectifs du projet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Identifier automatiquement les étudiants présents à partir d'une photo de la classe.</a:t>
            </a:r>
          </a:p>
          <a:p>
            <a:pPr indent="-274320" marL="274320">
              <a:lnSpc>
                <a:spcPct val="112000"/>
              </a:lnSpc>
              <a:spcAft>
                <a:spcPts val="1400"/>
              </a:spcAft>
              <a:buClr>
                <a:srgbClr val="4F81BD"/>
              </a:buClr>
              <a:buFont typeface="Arial"/>
              <a:buChar char="▪"/>
            </a:pPr>
            <a:r>
              <a:rPr sz="1900" b="0" i="0">
                <a:solidFill>
                  <a:srgbClr val="20242B"/>
                </a:solidFill>
                <a:latin typeface="Calibri"/>
              </a:rPr>
              <a:t>Enregistrer les présences et offrir à l'enseignant un tableau de bord de suivi.</a:t>
            </a:r>
          </a:p>
          <a:p>
            <a:pPr indent="-274320" marL="274320">
              <a:lnSpc>
                <a:spcPct val="112000"/>
              </a:lnSpc>
              <a:spcAft>
                <a:spcPts val="1400"/>
              </a:spcAft>
              <a:buClr>
                <a:srgbClr val="4F81BD"/>
              </a:buClr>
              <a:buFont typeface="Arial"/>
              <a:buChar char="▪"/>
            </a:pPr>
            <a:r>
              <a:rPr sz="1900" b="0" i="0">
                <a:solidFill>
                  <a:srgbClr val="20242B"/>
                </a:solidFill>
                <a:latin typeface="Calibri"/>
              </a:rPr>
              <a:t>Atteindre une précision élevée sur du matériel standard (ordinateur portable, CPU).</a:t>
            </a:r>
          </a:p>
          <a:p>
            <a:pPr indent="-274320" marL="274320">
              <a:lnSpc>
                <a:spcPct val="112000"/>
              </a:lnSpc>
              <a:spcAft>
                <a:spcPts val="1400"/>
              </a:spcAft>
              <a:buClr>
                <a:srgbClr val="4F81BD"/>
              </a:buClr>
              <a:buFont typeface="Arial"/>
              <a:buChar char="▪"/>
            </a:pPr>
            <a:r>
              <a:rPr sz="1900" b="0" i="0">
                <a:solidFill>
                  <a:srgbClr val="20242B"/>
                </a:solidFill>
                <a:latin typeface="Calibri"/>
              </a:rPr>
              <a:t>Détecter la fraude par photo (détection du vivant / anti-spoofing).</a:t>
            </a:r>
          </a:p>
          <a:p>
            <a:pPr indent="-274320" marL="274320">
              <a:lnSpc>
                <a:spcPct val="112000"/>
              </a:lnSpc>
              <a:spcAft>
                <a:spcPts val="1400"/>
              </a:spcAft>
              <a:buClr>
                <a:srgbClr val="4F81BD"/>
              </a:buClr>
              <a:buFont typeface="Arial"/>
              <a:buChar char="▪"/>
            </a:pPr>
            <a:r>
              <a:rPr sz="1900" b="0" i="0">
                <a:solidFill>
                  <a:srgbClr val="20242B"/>
                </a:solidFill>
                <a:latin typeface="Calibri"/>
              </a:rPr>
              <a:t>Respecter la réglementation sur les données biométriques (loi 09-08 / CNDP).</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3. État de l'art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Chaîne de traitement : Détection → Alignement → Empreinte → Appariement.</a:t>
            </a:r>
          </a:p>
          <a:p>
            <a:pPr indent="-274320" marL="548640" lvl="1">
              <a:lnSpc>
                <a:spcPct val="112000"/>
              </a:lnSpc>
              <a:spcAft>
                <a:spcPts val="1400"/>
              </a:spcAft>
              <a:buClr>
                <a:srgbClr val="9AB4D4"/>
              </a:buClr>
              <a:buFont typeface="Arial"/>
              <a:buChar char="–"/>
            </a:pPr>
            <a:r>
              <a:rPr sz="1600" b="0" i="0">
                <a:solidFill>
                  <a:srgbClr val="595959"/>
                </a:solidFill>
                <a:latin typeface="Calibri"/>
              </a:rPr>
              <a:t>Détection : RetinaFace — robuste (petits visages, angles).</a:t>
            </a:r>
          </a:p>
          <a:p>
            <a:pPr indent="-274320" marL="548640" lvl="1">
              <a:lnSpc>
                <a:spcPct val="112000"/>
              </a:lnSpc>
              <a:spcAft>
                <a:spcPts val="1400"/>
              </a:spcAft>
              <a:buClr>
                <a:srgbClr val="9AB4D4"/>
              </a:buClr>
              <a:buFont typeface="Arial"/>
              <a:buChar char="–"/>
            </a:pPr>
            <a:r>
              <a:rPr sz="1600" b="0" i="0">
                <a:solidFill>
                  <a:srgbClr val="595959"/>
                </a:solidFill>
                <a:latin typeface="Calibri"/>
              </a:rPr>
              <a:t>Reconnaissance : ArcFace, empreinte 512-d — ~99,4 à 99,8 % sur LFW.</a:t>
            </a:r>
          </a:p>
          <a:p>
            <a:pPr indent="-274320" marL="548640" lvl="1">
              <a:lnSpc>
                <a:spcPct val="112000"/>
              </a:lnSpc>
              <a:spcAft>
                <a:spcPts val="1400"/>
              </a:spcAft>
              <a:buClr>
                <a:srgbClr val="9AB4D4"/>
              </a:buClr>
              <a:buFont typeface="Arial"/>
              <a:buChar char="–"/>
            </a:pPr>
            <a:r>
              <a:rPr sz="1600" b="0" i="0">
                <a:solidFill>
                  <a:srgbClr val="595959"/>
                </a:solidFill>
                <a:latin typeface="Calibri"/>
              </a:rPr>
              <a:t>Les meilleurs modèles dépassent la performance humaine (~97,5 %).</a:t>
            </a:r>
          </a:p>
          <a:p>
            <a:pPr indent="-274320" marL="274320">
              <a:lnSpc>
                <a:spcPct val="112000"/>
              </a:lnSpc>
              <a:spcAft>
                <a:spcPts val="1400"/>
              </a:spcAft>
              <a:buClr>
                <a:srgbClr val="4F81BD"/>
              </a:buClr>
              <a:buFont typeface="Arial"/>
              <a:buChar char="▪"/>
            </a:pPr>
            <a:r>
              <a:rPr sz="1900" b="0" i="0">
                <a:solidFill>
                  <a:srgbClr val="20242B"/>
                </a:solidFill>
                <a:latin typeface="Calibri"/>
              </a:rPr>
              <a:t>Notre choix : intégrer les meilleures briques pré-entraînées plutôt que réentraîner.</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architecture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chitecture-technique.png"/>
          <p:cNvPicPr>
            <a:picLocks noChangeAspect="1"/>
          </p:cNvPicPr>
          <p:nvPr/>
        </p:nvPicPr>
        <p:blipFill>
          <a:blip r:embed="rId2"/>
          <a:stretch>
            <a:fillRect/>
          </a:stretch>
        </p:blipFill>
        <p:spPr>
          <a:xfrm>
            <a:off x="1371496" y="1691640"/>
            <a:ext cx="9418526"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Architecture technique en trois couches (interface, serveur + IA, persistance).</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cas d'utilisation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s-utilisation.png"/>
          <p:cNvPicPr>
            <a:picLocks noChangeAspect="1"/>
          </p:cNvPicPr>
          <p:nvPr/>
        </p:nvPicPr>
        <p:blipFill>
          <a:blip r:embed="rId2"/>
          <a:stretch>
            <a:fillRect/>
          </a:stretch>
        </p:blipFill>
        <p:spPr>
          <a:xfrm>
            <a:off x="3453085" y="1691640"/>
            <a:ext cx="5255349"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Acteurs et cas d'utilisation ; l'enseignant valide toujours avant enregistrement.</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5. Implémentation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Python 3.12, exécution sur CPU (Apple Silicon, sans carte graphique).</a:t>
            </a:r>
          </a:p>
          <a:p>
            <a:pPr indent="-274320" marL="274320">
              <a:lnSpc>
                <a:spcPct val="112000"/>
              </a:lnSpc>
              <a:spcAft>
                <a:spcPts val="1400"/>
              </a:spcAft>
              <a:buClr>
                <a:srgbClr val="4F81BD"/>
              </a:buClr>
              <a:buFont typeface="Arial"/>
              <a:buChar char="▪"/>
            </a:pPr>
            <a:r>
              <a:rPr sz="1900" b="0" i="0">
                <a:solidFill>
                  <a:srgbClr val="20242B"/>
                </a:solidFill>
                <a:latin typeface="Calibri"/>
              </a:rPr>
              <a:t>Cœur IA : InsightFace (RetinaFace + ArcFace) via ONNX Runtime, OpenCV.</a:t>
            </a:r>
          </a:p>
          <a:p>
            <a:pPr indent="-274320" marL="274320">
              <a:lnSpc>
                <a:spcPct val="112000"/>
              </a:lnSpc>
              <a:spcAft>
                <a:spcPts val="1400"/>
              </a:spcAft>
              <a:buClr>
                <a:srgbClr val="4F81BD"/>
              </a:buClr>
              <a:buFont typeface="Arial"/>
              <a:buChar char="▪"/>
            </a:pPr>
            <a:r>
              <a:rPr sz="1900" b="0" i="0">
                <a:solidFill>
                  <a:srgbClr val="20242B"/>
                </a:solidFill>
                <a:latin typeface="Calibri"/>
              </a:rPr>
              <a:t>Backend : FastAPI + SQLAlchemy + SQLite ; tableau de bord en gabarits Jinja2.</a:t>
            </a:r>
          </a:p>
          <a:p>
            <a:pPr indent="-274320" marL="274320">
              <a:lnSpc>
                <a:spcPct val="112000"/>
              </a:lnSpc>
              <a:spcAft>
                <a:spcPts val="1400"/>
              </a:spcAft>
              <a:buClr>
                <a:srgbClr val="4F81BD"/>
              </a:buClr>
              <a:buFont typeface="Arial"/>
              <a:buChar char="▪"/>
            </a:pPr>
            <a:r>
              <a:rPr sz="1900" b="0" i="0">
                <a:solidFill>
                  <a:srgbClr val="20242B"/>
                </a:solidFill>
                <a:latin typeface="Calibri"/>
              </a:rPr>
              <a:t>Exports Excel / PDF ; module anti-spoofing MiniFASNet-V2.</a:t>
            </a:r>
          </a:p>
          <a:p>
            <a:pPr indent="-274320" marL="274320">
              <a:lnSpc>
                <a:spcPct val="112000"/>
              </a:lnSpc>
              <a:spcAft>
                <a:spcPts val="1400"/>
              </a:spcAft>
              <a:buClr>
                <a:srgbClr val="4F81BD"/>
              </a:buClr>
              <a:buFont typeface="Arial"/>
              <a:buChar char="▪"/>
            </a:pPr>
            <a:r>
              <a:rPr sz="1900" b="0" i="0">
                <a:solidFill>
                  <a:srgbClr val="20242B"/>
                </a:solidFill>
                <a:latin typeface="Calibri"/>
              </a:rPr>
              <a:t>Principe clé : la reconnaissance propose, l'enseignant valide, puis on enregistre.</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6. Démonstration — prise de présence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p_reconnaissance.png"/>
          <p:cNvPicPr>
            <a:picLocks noChangeAspect="1"/>
          </p:cNvPicPr>
          <p:nvPr/>
        </p:nvPicPr>
        <p:blipFill>
          <a:blip r:embed="rId2"/>
          <a:stretch>
            <a:fillRect/>
          </a:stretch>
        </p:blipFill>
        <p:spPr>
          <a:xfrm>
            <a:off x="2340032" y="1691640"/>
            <a:ext cx="7481454"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Sur une photo de la classe, chaque étudiant est détecté, reconnu et nommé, avant validation.</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évaluation contrôlée (LFW)</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similarites.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15 identités, 56 photos de test → précision top-1 de 100 % ; distributions nettement séparées.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calibration du seuil</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far_frr.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FAR et FRR nuls entre 0,20 et 0,50 ; seuil retenu : 0,35.</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scène multi-visages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lasse_annotee.png"/>
          <p:cNvPicPr>
            <a:picLocks noChangeAspect="1"/>
          </p:cNvPicPr>
          <p:nvPr/>
        </p:nvPicPr>
        <p:blipFill>
          <a:blip r:embed="rId2"/>
          <a:stretch>
            <a:fillRect/>
          </a:stretch>
        </p:blipFill>
        <p:spPr>
          <a:xfrm>
            <a:off x="2441146" y="1691640"/>
            <a:ext cx="7279227"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Photo de classe : 6/6 étudiants reconnus et nommés, 2/2 intrus rejetés (« Inconnu »), ~2 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8. Éthique &amp; conformité — loi 09-08</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Le visage est une donnée biométrique sensible (loi 09-08, contrôle CNDP).</a:t>
            </a:r>
          </a:p>
          <a:p>
            <a:pPr indent="-274320" marL="274320">
              <a:lnSpc>
                <a:spcPct val="112000"/>
              </a:lnSpc>
              <a:spcAft>
                <a:spcPts val="1400"/>
              </a:spcAft>
              <a:buClr>
                <a:srgbClr val="4F81BD"/>
              </a:buClr>
              <a:buFont typeface="Arial"/>
              <a:buChar char="▪"/>
            </a:pPr>
            <a:r>
              <a:rPr sz="1900" b="0" i="0">
                <a:solidFill>
                  <a:srgbClr val="20242B"/>
                </a:solidFill>
                <a:latin typeface="Calibri"/>
              </a:rPr>
              <a:t>Consentement explicite et écrit de chaque personne enrôlée.</a:t>
            </a:r>
          </a:p>
          <a:p>
            <a:pPr indent="-274320" marL="274320">
              <a:lnSpc>
                <a:spcPct val="112000"/>
              </a:lnSpc>
              <a:spcAft>
                <a:spcPts val="1400"/>
              </a:spcAft>
              <a:buClr>
                <a:srgbClr val="4F81BD"/>
              </a:buClr>
              <a:buFont typeface="Arial"/>
              <a:buChar char="▪"/>
            </a:pPr>
            <a:r>
              <a:rPr sz="1900" b="0" i="0">
                <a:solidFill>
                  <a:srgbClr val="20242B"/>
                </a:solidFill>
                <a:latin typeface="Calibri"/>
              </a:rPr>
              <a:t>Minimisation : on conserve les empreintes plutôt que les images.</a:t>
            </a:r>
          </a:p>
          <a:p>
            <a:pPr indent="-274320" marL="274320">
              <a:lnSpc>
                <a:spcPct val="112000"/>
              </a:lnSpc>
              <a:spcAft>
                <a:spcPts val="1400"/>
              </a:spcAft>
              <a:buClr>
                <a:srgbClr val="4F81BD"/>
              </a:buClr>
              <a:buFont typeface="Arial"/>
              <a:buChar char="▪"/>
            </a:pPr>
            <a:r>
              <a:rPr sz="1900" b="0" i="0">
                <a:solidFill>
                  <a:srgbClr val="20242B"/>
                </a:solidFill>
                <a:latin typeface="Calibri"/>
              </a:rPr>
              <a:t>Finalité déterminée, accès restreint, sécurité, suppression en fin de projet.</a:t>
            </a:r>
          </a:p>
          <a:p>
            <a:pPr indent="-274320" marL="274320">
              <a:lnSpc>
                <a:spcPct val="112000"/>
              </a:lnSpc>
              <a:spcAft>
                <a:spcPts val="1400"/>
              </a:spcAft>
              <a:buClr>
                <a:srgbClr val="4F81BD"/>
              </a:buClr>
              <a:buFont typeface="Arial"/>
              <a:buChar char="▪"/>
            </a:pPr>
            <a:r>
              <a:rPr sz="1900" b="0" i="0">
                <a:solidFill>
                  <a:srgbClr val="20242B"/>
                </a:solidFill>
                <a:latin typeface="Calibri"/>
              </a:rPr>
              <a:t>Droits garantis : accès, rectification, suppression, retrait du consentement.</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9. Conclusion &amp; perspectives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Une application complète : enrôlement → reconnaissance → validation → rapports.</a:t>
            </a:r>
          </a:p>
          <a:p>
            <a:pPr indent="-274320" marL="274320">
              <a:lnSpc>
                <a:spcPct val="112000"/>
              </a:lnSpc>
              <a:spcAft>
                <a:spcPts val="1400"/>
              </a:spcAft>
              <a:buClr>
                <a:srgbClr val="4F81BD"/>
              </a:buClr>
              <a:buFont typeface="Arial"/>
              <a:buChar char="▪"/>
            </a:pPr>
            <a:r>
              <a:rPr sz="1900" b="0" i="0">
                <a:solidFill>
                  <a:srgbClr val="20242B"/>
                </a:solidFill>
                <a:latin typeface="Calibri"/>
              </a:rPr>
              <a:t>Cœur du système validé : 100 % en conditions contrôlées, robuste en multi-visages.</a:t>
            </a:r>
          </a:p>
          <a:p>
            <a:pPr indent="-274320" marL="274320">
              <a:lnSpc>
                <a:spcPct val="112000"/>
              </a:lnSpc>
              <a:spcAft>
                <a:spcPts val="1400"/>
              </a:spcAft>
              <a:buClr>
                <a:srgbClr val="4F81BD"/>
              </a:buClr>
              <a:buFont typeface="Arial"/>
              <a:buChar char="▪"/>
            </a:pPr>
            <a:r>
              <a:rPr sz="1900" b="0" i="0">
                <a:solidFill>
                  <a:srgbClr val="20242B"/>
                </a:solidFill>
                <a:latin typeface="Calibri"/>
              </a:rPr>
              <a:t>Perspectives :</a:t>
            </a:r>
          </a:p>
          <a:p>
            <a:pPr indent="-274320" marL="548640" lvl="1">
              <a:lnSpc>
                <a:spcPct val="112000"/>
              </a:lnSpc>
              <a:spcAft>
                <a:spcPts val="1400"/>
              </a:spcAft>
              <a:buClr>
                <a:srgbClr val="9AB4D4"/>
              </a:buClr>
              <a:buFont typeface="Arial"/>
              <a:buChar char="–"/>
            </a:pPr>
            <a:r>
              <a:rPr sz="1600" b="0" i="0">
                <a:solidFill>
                  <a:srgbClr val="595959"/>
                </a:solidFill>
                <a:latin typeface="Calibri"/>
              </a:rPr>
              <a:t>validation sur une vraie photo de classe (avec consentement) ;</a:t>
            </a:r>
          </a:p>
          <a:p>
            <a:pPr indent="-274320" marL="548640" lvl="1">
              <a:lnSpc>
                <a:spcPct val="112000"/>
              </a:lnSpc>
              <a:spcAft>
                <a:spcPts val="1400"/>
              </a:spcAft>
              <a:buClr>
                <a:srgbClr val="9AB4D4"/>
              </a:buClr>
              <a:buFont typeface="Arial"/>
              <a:buChar char="–"/>
            </a:pPr>
            <a:r>
              <a:rPr sz="1600" b="0" i="0">
                <a:solidFill>
                  <a:srgbClr val="595959"/>
                </a:solidFill>
                <a:latin typeface="Calibri"/>
              </a:rPr>
              <a:t>anti-spoofing éprouvé face à de vraies attaques ; reconnaissance en temps réel ;</a:t>
            </a:r>
          </a:p>
          <a:p>
            <a:pPr indent="-274320" marL="548640" lvl="1">
              <a:lnSpc>
                <a:spcPct val="112000"/>
              </a:lnSpc>
              <a:spcAft>
                <a:spcPts val="1400"/>
              </a:spcAft>
              <a:buClr>
                <a:srgbClr val="9AB4D4"/>
              </a:buClr>
              <a:buFont typeface="Arial"/>
              <a:buChar char="–"/>
            </a:pPr>
            <a:r>
              <a:rPr sz="1600" b="0" i="0">
                <a:solidFill>
                  <a:srgbClr val="595959"/>
                </a:solidFill>
                <a:latin typeface="Calibri"/>
              </a:rPr>
              <a:t>application mobile et intégration au système d'information.</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212080" y="1097280"/>
            <a:ext cx="2377440" cy="914400"/>
          </a:xfrm>
          <a:prstGeom prst="rect">
            <a:avLst/>
          </a:prstGeom>
        </p:spPr>
      </p:pic>
      <p:sp>
        <p:nvSpPr>
          <p:cNvPr id="5" name="TextBox 4"/>
          <p:cNvSpPr txBox="1"/>
          <p:nvPr/>
        </p:nvSpPr>
        <p:spPr>
          <a:xfrm>
            <a:off x="914400" y="2651760"/>
            <a:ext cx="10360152" cy="1463040"/>
          </a:xfrm>
          <a:prstGeom prst="rect">
            <a:avLst/>
          </a:prstGeom>
          <a:noFill/>
        </p:spPr>
        <p:txBody>
          <a:bodyPr wrap="square">
            <a:spAutoFit/>
          </a:bodyPr>
          <a:lstStyle/>
          <a:p>
            <a:pPr algn="ctr"/>
            <a:r>
              <a:rPr sz="4000" b="1" i="0">
                <a:solidFill>
                  <a:srgbClr val="FFFFFF"/>
                </a:solidFill>
                <a:latin typeface="Calibri"/>
              </a:rPr>
              <a:t>Merci de votre attention</a:t>
            </a:r>
          </a:p>
          <a:p>
            <a:pPr algn="ctr">
              <a:spcBef>
                <a:spcPts val="1000"/>
              </a:spcBef>
            </a:pPr>
            <a:r>
              <a:rPr sz="2000" b="0" i="1">
                <a:solidFill>
                  <a:srgbClr val="BED0E8"/>
                </a:solidFill>
                <a:latin typeface="Calibri"/>
              </a:rPr>
              <a:t>Questions &amp; discussion</a:t>
            </a:r>
          </a:p>
        </p:txBody>
      </p:sp>
      <p:sp>
        <p:nvSpPr>
          <p:cNvPr id="6" name="TextBox 5"/>
          <p:cNvSpPr txBox="1"/>
          <p:nvPr/>
        </p:nvSpPr>
        <p:spPr>
          <a:xfrm>
            <a:off x="914400" y="4937760"/>
            <a:ext cx="10360152" cy="914400"/>
          </a:xfrm>
          <a:prstGeom prst="rect">
            <a:avLst/>
          </a:prstGeom>
          <a:noFill/>
        </p:spPr>
        <p:txBody>
          <a:bodyPr wrap="square">
            <a:spAutoFit/>
          </a:bodyPr>
          <a:lstStyle/>
          <a:p>
            <a:pPr algn="ctr"/>
            <a:r>
              <a:rPr sz="1400" b="0" i="0">
                <a:solidFill>
                  <a:srgbClr val="D7E0EF"/>
                </a:solidFill>
                <a:latin typeface="Calibri"/>
              </a:rPr>
              <a:t>BENDADI Mohamed · SADEK Zakaria · BELHASSAN Amine</a:t>
            </a:r>
          </a:p>
          <a:p>
            <a:pPr algn="ctr"/>
            <a:r>
              <a:rPr sz="1300" b="0" i="0">
                <a:solidFill>
                  <a:srgbClr val="BED0E8"/>
                </a:solidFill>
                <a:latin typeface="Calibri"/>
              </a:rPr>
              <a:t>Encadré par M. Adama SAMAKE — ISGA, 2025/2026</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