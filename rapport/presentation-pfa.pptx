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Nous sommes trois étudiants de l'ISGA. Notre projet est un système qui fait la présence en classe grâce à la reconnaissance des visages. Je vais vous le présenter.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plan de notre présentation. Nous allons voir le contexte, les objectifs, la conception, puis une démonstration, les résultats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Aujourd'hui, l'appel se fait à la main, et cela prend beaucoup de temps. Un étudiant peut aussi répondre à la place d'un absent. Et les feuilles de papier se perdent. Nous voulons donc rendre la présence rapide, fiable et éthique.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but est de reconnaître les étudiants à partir d'une simple photo de la classe. Le système enregistre les présences et les montre à l'enseignant. Il doit marcher sur un ordinateur normal, et respecter la loi sur les données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reconnaissance passe par quatre étapes, de la détection jusqu'à la comparaison des visages. Nous utilisons deux modèles très connus, RetinaFace et ArcFace. Ils sont parmi les meilleurs. Nous ne les avons pas créés, nous les avons intégrés dans une application complète.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système est organisé en trois couches. Il y a l'interface web pour l'enseignant, le serveur qui contient l'intelligence artificielle, et la base de données. Cette organisation rend le système clair et facile à faire évoluer.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personnes utilisent le système. L'enseignant lance la présence et valide la liste. L'administrateur gère les étudiants. Et l'étudiant consulte son taux de présence. Le plus important, c'est que l'enseignant valide toujours avant d'enregistrer.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réalisation, nous avons utilisé le langage Python et la bibliothèque InsightFace. Le serveur est fait avec FastAPI et une base de données SQLite. Nous avons aussi ajouté les exports Excel et PDF, et un module contre la fraude.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une démonstration réelle. L'enseignant importe une photo de la classe. Le système détecte chaque visage et affiche le nom de l'étudiant avec un score. L'enseignant coche les présents, puis il valide. C'est simple et rapide.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évaluer le système, nous avons utilisé un jeu de données public appelé LFW. La précision obtenue est de cent pour cent. Sur ce graphique, on voit clairement deux groupes bien séparés, ce qui montre que la décision est facile et sûre.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nous réglons le seuil de décision. Il existe une large zone où le système ne fait aucune erreur. Nous avons choisi la valeur du milieu pour être sûrs.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aussi testé plusieurs visages sur une même photo. Sur six étudiants et deux personnes non inscrites, le système reconnaît les six étudiants et rejette les deux intrus. Le tout prend environ deux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visage est une donnée personnelle sensible, protégée au Maroc par la loi zéro neuf zéro huit. Nous demandons donc le consentement écrit de chaque personne. Et nous gardons seulement les empreintes, pas les images.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nous avons réalisé une application complète et fonctionnelle. Le cœur du système donne d'excellents résultats. Comme perspectives, nous voulons le tester dans une vraie classe et ajouter la reconnaissance en temps réel.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beaucoup de votre attention. Nous sommes prêts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074920" y="777240"/>
            <a:ext cx="2734056" cy="1051560"/>
          </a:xfrm>
          <a:prstGeom prst="rect">
            <a:avLst/>
          </a:prstGeom>
        </p:spPr>
      </p:pic>
      <p:sp>
        <p:nvSpPr>
          <p:cNvPr id="5" name="TextBox 4"/>
          <p:cNvSpPr txBox="1"/>
          <p:nvPr/>
        </p:nvSpPr>
        <p:spPr>
          <a:xfrm>
            <a:off x="914400" y="2286000"/>
            <a:ext cx="10360152" cy="1737360"/>
          </a:xfrm>
          <a:prstGeom prst="rect">
            <a:avLst/>
          </a:prstGeom>
          <a:noFill/>
        </p:spPr>
        <p:txBody>
          <a:bodyPr wrap="square">
            <a:spAutoFit/>
          </a:bodyPr>
          <a:lstStyle/>
          <a:p>
            <a:pPr algn="ctr"/>
            <a:r>
              <a:rPr sz="3400" b="1" i="0">
                <a:solidFill>
                  <a:srgbClr val="FFFFFF"/>
                </a:solidFill>
                <a:latin typeface="Calibri"/>
              </a:rPr>
              <a:t>Système intelligent de gestion des présences</a:t>
            </a:r>
          </a:p>
          <a:p>
            <a:pPr algn="ctr"/>
            <a:r>
              <a:rPr sz="3400" b="1" i="0">
                <a:solidFill>
                  <a:srgbClr val="FFFFFF"/>
                </a:solidFill>
                <a:latin typeface="Calibri"/>
              </a:rPr>
              <a:t>par reconnaissance faciale</a:t>
            </a:r>
          </a:p>
          <a:p>
            <a:pPr algn="ctr">
              <a:spcBef>
                <a:spcPts val="1400"/>
              </a:spcBef>
            </a:pPr>
            <a:r>
              <a:rPr sz="1800" b="0" i="1">
                <a:solidFill>
                  <a:srgbClr val="BED0E8"/>
                </a:solidFill>
                <a:latin typeface="Calibri"/>
              </a:rPr>
              <a:t>« AI Class Attendance for Students »</a:t>
            </a:r>
          </a:p>
        </p:txBody>
      </p:sp>
      <p:sp>
        <p:nvSpPr>
          <p:cNvPr id="6" name="TextBox 5"/>
          <p:cNvSpPr txBox="1"/>
          <p:nvPr/>
        </p:nvSpPr>
        <p:spPr>
          <a:xfrm>
            <a:off x="914400" y="4709160"/>
            <a:ext cx="10360152" cy="1554480"/>
          </a:xfrm>
          <a:prstGeom prst="rect">
            <a:avLst/>
          </a:prstGeom>
          <a:noFill/>
        </p:spPr>
        <p:txBody>
          <a:bodyPr wrap="square">
            <a:spAutoFit/>
          </a:bodyPr>
          <a:lstStyle/>
          <a:p>
            <a:pPr algn="ctr"/>
            <a:r>
              <a:rPr sz="1500" b="0" i="0">
                <a:solidFill>
                  <a:srgbClr val="D7E0EF"/>
                </a:solidFill>
                <a:latin typeface="Calibri"/>
              </a:rPr>
              <a:t>Projet de Fin d'Année — Cycle d'ingénieur (2ᵉ année) — 2025 / 2026</a:t>
            </a:r>
          </a:p>
          <a:p>
            <a:pPr algn="ctr">
              <a:spcBef>
                <a:spcPts val="1200"/>
              </a:spcBef>
            </a:pPr>
            <a:r>
              <a:rPr sz="1500" b="1" i="0">
                <a:solidFill>
                  <a:srgbClr val="FFFFFF"/>
                </a:solidFill>
                <a:latin typeface="Calibri"/>
              </a:rPr>
              <a:t>Réalisé par : </a:t>
            </a:r>
            <a:r>
              <a:rPr sz="1500" b="0" i="0">
                <a:solidFill>
                  <a:srgbClr val="FFFFFF"/>
                </a:solidFill>
                <a:latin typeface="Calibri"/>
              </a:rPr>
              <a:t>BENDADI Mohamed · SADEK Zakaria · BELHASSAN Amine</a:t>
            </a:r>
          </a:p>
          <a:p>
            <a:pPr algn="ctr">
              <a:spcBef>
                <a:spcPts val="400"/>
              </a:spcBef>
            </a:pPr>
            <a:r>
              <a:rPr sz="1500" b="1" i="0">
                <a:solidFill>
                  <a:srgbClr val="FFFFFF"/>
                </a:solidFill>
                <a:latin typeface="Calibri"/>
              </a:rPr>
              <a:t>Encadré par : </a:t>
            </a:r>
            <a:r>
              <a:rPr sz="1500" b="0" i="0">
                <a:solidFill>
                  <a:srgbClr val="FFFFFF"/>
                </a:solidFill>
                <a:latin typeface="Calibri"/>
              </a:rPr>
              <a:t>M. Adama SAMAKE</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Plan de la présentation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0058400" cy="4297680"/>
          </a:xfrm>
          <a:prstGeom prst="rect">
            <a:avLst/>
          </a:prstGeom>
          <a:noFill/>
        </p:spPr>
        <p:txBody>
          <a:bodyPr wrap="square">
            <a:spAutoFit/>
          </a:bodyPr>
          <a:lstStyle/>
          <a:p>
            <a:pPr>
              <a:spcAft>
                <a:spcPts val="1000"/>
              </a:spcAft>
            </a:pPr>
            <a:r>
              <a:rPr sz="1900" b="0" i="0">
                <a:solidFill>
                  <a:srgbClr val="20242B"/>
                </a:solidFill>
                <a:latin typeface="Calibri"/>
              </a:rPr>
              <a:t>1.  Contexte &amp; problématique</a:t>
            </a:r>
          </a:p>
          <a:p>
            <a:pPr>
              <a:spcAft>
                <a:spcPts val="1000"/>
              </a:spcAft>
            </a:pPr>
            <a:r>
              <a:rPr sz="1900" b="0" i="0">
                <a:solidFill>
                  <a:srgbClr val="20242B"/>
                </a:solidFill>
                <a:latin typeface="Calibri"/>
              </a:rPr>
              <a:t>2.  Objectifs du projet</a:t>
            </a:r>
          </a:p>
          <a:p>
            <a:pPr>
              <a:spcAft>
                <a:spcPts val="1000"/>
              </a:spcAft>
            </a:pPr>
            <a:r>
              <a:rPr sz="1900" b="0" i="0">
                <a:solidFill>
                  <a:srgbClr val="20242B"/>
                </a:solidFill>
                <a:latin typeface="Calibri"/>
              </a:rPr>
              <a:t>3.  État de l'art</a:t>
            </a:r>
          </a:p>
          <a:p>
            <a:pPr>
              <a:spcAft>
                <a:spcPts val="1000"/>
              </a:spcAft>
            </a:pPr>
            <a:r>
              <a:rPr sz="1900" b="0" i="0">
                <a:solidFill>
                  <a:srgbClr val="20242B"/>
                </a:solidFill>
                <a:latin typeface="Calibri"/>
              </a:rPr>
              <a:t>4.  Conception du système</a:t>
            </a:r>
          </a:p>
          <a:p>
            <a:pPr>
              <a:spcAft>
                <a:spcPts val="1000"/>
              </a:spcAft>
            </a:pPr>
            <a:r>
              <a:rPr sz="1900" b="0" i="0">
                <a:solidFill>
                  <a:srgbClr val="20242B"/>
                </a:solidFill>
                <a:latin typeface="Calibri"/>
              </a:rPr>
              <a:t>5.  Implémentation</a:t>
            </a:r>
          </a:p>
          <a:p>
            <a:pPr>
              <a:spcAft>
                <a:spcPts val="1000"/>
              </a:spcAft>
            </a:pPr>
            <a:r>
              <a:rPr sz="1900" b="0" i="0">
                <a:solidFill>
                  <a:srgbClr val="20242B"/>
                </a:solidFill>
                <a:latin typeface="Calibri"/>
              </a:rPr>
              <a:t>6.  Démonstration</a:t>
            </a:r>
          </a:p>
          <a:p>
            <a:pPr>
              <a:spcAft>
                <a:spcPts val="1000"/>
              </a:spcAft>
            </a:pPr>
            <a:r>
              <a:rPr sz="1900" b="0" i="0">
                <a:solidFill>
                  <a:srgbClr val="20242B"/>
                </a:solidFill>
                <a:latin typeface="Calibri"/>
              </a:rPr>
              <a:t>7.  Résultats &amp; évaluation</a:t>
            </a:r>
          </a:p>
          <a:p>
            <a:pPr>
              <a:spcAft>
                <a:spcPts val="1000"/>
              </a:spcAft>
            </a:pPr>
            <a:r>
              <a:rPr sz="1900" b="0" i="0">
                <a:solidFill>
                  <a:srgbClr val="20242B"/>
                </a:solidFill>
                <a:latin typeface="Calibri"/>
              </a:rPr>
              <a:t>8.  Éthique &amp; conformité (loi 09-08)</a:t>
            </a:r>
          </a:p>
          <a:p>
            <a:pPr>
              <a:spcAft>
                <a:spcPts val="1000"/>
              </a:spcAft>
            </a:pPr>
            <a:r>
              <a:rPr sz="1900" b="0" i="0">
                <a:solidFill>
                  <a:srgbClr val="20242B"/>
                </a:solidFill>
                <a:latin typeface="Calibri"/>
              </a:rPr>
              <a:t>9.  Conclusion &amp; perspectives</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1. Contexte &amp; problématique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L'appel manuel mobilise 5 à 10 minutes par séance — autant de temps pédagogique perdu.</a:t>
            </a:r>
          </a:p>
          <a:p>
            <a:pPr indent="-274320" marL="274320">
              <a:lnSpc>
                <a:spcPct val="112000"/>
              </a:lnSpc>
              <a:spcAft>
                <a:spcPts val="1400"/>
              </a:spcAft>
              <a:buClr>
                <a:srgbClr val="4F81BD"/>
              </a:buClr>
              <a:buFont typeface="Arial"/>
              <a:buChar char="▪"/>
            </a:pPr>
            <a:r>
              <a:rPr sz="1900" b="0" i="0">
                <a:solidFill>
                  <a:srgbClr val="20242B"/>
                </a:solidFill>
                <a:latin typeface="Calibri"/>
              </a:rPr>
              <a:t>La fraude par procuration (proxy attendance) : un étudiant répond ou signe pour un absent.</a:t>
            </a:r>
          </a:p>
          <a:p>
            <a:pPr indent="-274320" marL="274320">
              <a:lnSpc>
                <a:spcPct val="112000"/>
              </a:lnSpc>
              <a:spcAft>
                <a:spcPts val="1400"/>
              </a:spcAft>
              <a:buClr>
                <a:srgbClr val="4F81BD"/>
              </a:buClr>
              <a:buFont typeface="Arial"/>
              <a:buChar char="▪"/>
            </a:pPr>
            <a:r>
              <a:rPr sz="1900" b="0" i="0">
                <a:solidFill>
                  <a:srgbClr val="20242B"/>
                </a:solidFill>
                <a:latin typeface="Calibri"/>
              </a:rPr>
              <a:t>Les feuilles papier se perdent, se raturent, et ne produisent aucune statistique.</a:t>
            </a:r>
          </a:p>
          <a:p>
            <a:pPr indent="-274320" marL="274320">
              <a:lnSpc>
                <a:spcPct val="112000"/>
              </a:lnSpc>
              <a:spcAft>
                <a:spcPts val="1400"/>
              </a:spcAft>
              <a:buClr>
                <a:srgbClr val="4F81BD"/>
              </a:buClr>
              <a:buFont typeface="Arial"/>
              <a:buChar char="▪"/>
            </a:pPr>
            <a:r>
              <a:rPr sz="1900" b="0" i="0">
                <a:solidFill>
                  <a:srgbClr val="20242B"/>
                </a:solidFill>
                <a:latin typeface="Calibri"/>
              </a:rPr>
              <a:t>Comment automatiser l'appel de façon fiable, rapide et éthique ?</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2. Objectifs du projet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Identifier automatiquement les étudiants présents à partir d'une photo de la classe.</a:t>
            </a:r>
          </a:p>
          <a:p>
            <a:pPr indent="-274320" marL="274320">
              <a:lnSpc>
                <a:spcPct val="112000"/>
              </a:lnSpc>
              <a:spcAft>
                <a:spcPts val="1400"/>
              </a:spcAft>
              <a:buClr>
                <a:srgbClr val="4F81BD"/>
              </a:buClr>
              <a:buFont typeface="Arial"/>
              <a:buChar char="▪"/>
            </a:pPr>
            <a:r>
              <a:rPr sz="1900" b="0" i="0">
                <a:solidFill>
                  <a:srgbClr val="20242B"/>
                </a:solidFill>
                <a:latin typeface="Calibri"/>
              </a:rPr>
              <a:t>Enregistrer les présences et offrir à l'enseignant un tableau de bord de suivi.</a:t>
            </a:r>
          </a:p>
          <a:p>
            <a:pPr indent="-274320" marL="274320">
              <a:lnSpc>
                <a:spcPct val="112000"/>
              </a:lnSpc>
              <a:spcAft>
                <a:spcPts val="1400"/>
              </a:spcAft>
              <a:buClr>
                <a:srgbClr val="4F81BD"/>
              </a:buClr>
              <a:buFont typeface="Arial"/>
              <a:buChar char="▪"/>
            </a:pPr>
            <a:r>
              <a:rPr sz="1900" b="0" i="0">
                <a:solidFill>
                  <a:srgbClr val="20242B"/>
                </a:solidFill>
                <a:latin typeface="Calibri"/>
              </a:rPr>
              <a:t>Atteindre une précision élevée sur du matériel standard (ordinateur portable, CPU).</a:t>
            </a:r>
          </a:p>
          <a:p>
            <a:pPr indent="-274320" marL="274320">
              <a:lnSpc>
                <a:spcPct val="112000"/>
              </a:lnSpc>
              <a:spcAft>
                <a:spcPts val="1400"/>
              </a:spcAft>
              <a:buClr>
                <a:srgbClr val="4F81BD"/>
              </a:buClr>
              <a:buFont typeface="Arial"/>
              <a:buChar char="▪"/>
            </a:pPr>
            <a:r>
              <a:rPr sz="1900" b="0" i="0">
                <a:solidFill>
                  <a:srgbClr val="20242B"/>
                </a:solidFill>
                <a:latin typeface="Calibri"/>
              </a:rPr>
              <a:t>Détecter la fraude par photo (détection du vivant / anti-spoofing).</a:t>
            </a:r>
          </a:p>
          <a:p>
            <a:pPr indent="-274320" marL="274320">
              <a:lnSpc>
                <a:spcPct val="112000"/>
              </a:lnSpc>
              <a:spcAft>
                <a:spcPts val="1400"/>
              </a:spcAft>
              <a:buClr>
                <a:srgbClr val="4F81BD"/>
              </a:buClr>
              <a:buFont typeface="Arial"/>
              <a:buChar char="▪"/>
            </a:pPr>
            <a:r>
              <a:rPr sz="1900" b="0" i="0">
                <a:solidFill>
                  <a:srgbClr val="20242B"/>
                </a:solidFill>
                <a:latin typeface="Calibri"/>
              </a:rPr>
              <a:t>Respecter la réglementation sur les données biométriques (loi 09-08 / CNDP).</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3. État de l'art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Chaîne de traitement : Détection → Alignement → Empreinte → Appariement.</a:t>
            </a:r>
          </a:p>
          <a:p>
            <a:pPr indent="-274320" marL="548640" lvl="1">
              <a:lnSpc>
                <a:spcPct val="112000"/>
              </a:lnSpc>
              <a:spcAft>
                <a:spcPts val="1400"/>
              </a:spcAft>
              <a:buClr>
                <a:srgbClr val="9AB4D4"/>
              </a:buClr>
              <a:buFont typeface="Arial"/>
              <a:buChar char="–"/>
            </a:pPr>
            <a:r>
              <a:rPr sz="1600" b="0" i="0">
                <a:solidFill>
                  <a:srgbClr val="595959"/>
                </a:solidFill>
                <a:latin typeface="Calibri"/>
              </a:rPr>
              <a:t>Détection : RetinaFace — robuste (petits visages, angles).</a:t>
            </a:r>
          </a:p>
          <a:p>
            <a:pPr indent="-274320" marL="548640" lvl="1">
              <a:lnSpc>
                <a:spcPct val="112000"/>
              </a:lnSpc>
              <a:spcAft>
                <a:spcPts val="1400"/>
              </a:spcAft>
              <a:buClr>
                <a:srgbClr val="9AB4D4"/>
              </a:buClr>
              <a:buFont typeface="Arial"/>
              <a:buChar char="–"/>
            </a:pPr>
            <a:r>
              <a:rPr sz="1600" b="0" i="0">
                <a:solidFill>
                  <a:srgbClr val="595959"/>
                </a:solidFill>
                <a:latin typeface="Calibri"/>
              </a:rPr>
              <a:t>Reconnaissance : ArcFace, empreinte 512-d — ~99,4 à 99,8 % sur LFW.</a:t>
            </a:r>
          </a:p>
          <a:p>
            <a:pPr indent="-274320" marL="548640" lvl="1">
              <a:lnSpc>
                <a:spcPct val="112000"/>
              </a:lnSpc>
              <a:spcAft>
                <a:spcPts val="1400"/>
              </a:spcAft>
              <a:buClr>
                <a:srgbClr val="9AB4D4"/>
              </a:buClr>
              <a:buFont typeface="Arial"/>
              <a:buChar char="–"/>
            </a:pPr>
            <a:r>
              <a:rPr sz="1600" b="0" i="0">
                <a:solidFill>
                  <a:srgbClr val="595959"/>
                </a:solidFill>
                <a:latin typeface="Calibri"/>
              </a:rPr>
              <a:t>Les meilleurs modèles dépassent la performance humaine (~97,5 %).</a:t>
            </a:r>
          </a:p>
          <a:p>
            <a:pPr indent="-274320" marL="274320">
              <a:lnSpc>
                <a:spcPct val="112000"/>
              </a:lnSpc>
              <a:spcAft>
                <a:spcPts val="1400"/>
              </a:spcAft>
              <a:buClr>
                <a:srgbClr val="4F81BD"/>
              </a:buClr>
              <a:buFont typeface="Arial"/>
              <a:buChar char="▪"/>
            </a:pPr>
            <a:r>
              <a:rPr sz="1900" b="0" i="0">
                <a:solidFill>
                  <a:srgbClr val="20242B"/>
                </a:solidFill>
                <a:latin typeface="Calibri"/>
              </a:rPr>
              <a:t>Notre choix : intégrer les meilleures briques pré-entraînées plutôt que réentraîner.</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architecture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technique.png"/>
          <p:cNvPicPr>
            <a:picLocks noChangeAspect="1"/>
          </p:cNvPicPr>
          <p:nvPr/>
        </p:nvPicPr>
        <p:blipFill>
          <a:blip r:embed="rId2"/>
          <a:stretch>
            <a:fillRect/>
          </a:stretch>
        </p:blipFill>
        <p:spPr>
          <a:xfrm>
            <a:off x="1371496" y="1691640"/>
            <a:ext cx="9418526"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Architecture technique en trois couches (interface, serveur + IA, persistance).</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cas d'utilisation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s-utilisation.png"/>
          <p:cNvPicPr>
            <a:picLocks noChangeAspect="1"/>
          </p:cNvPicPr>
          <p:nvPr/>
        </p:nvPicPr>
        <p:blipFill>
          <a:blip r:embed="rId2"/>
          <a:stretch>
            <a:fillRect/>
          </a:stretch>
        </p:blipFill>
        <p:spPr>
          <a:xfrm>
            <a:off x="3453085" y="1691640"/>
            <a:ext cx="5255349"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Acteurs et cas d'utilisation ; l'enseignant valide toujours avant enregistrement.</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5. Implémentation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Python 3.12, exécution sur CPU (Apple Silicon, sans carte graphique).</a:t>
            </a:r>
          </a:p>
          <a:p>
            <a:pPr indent="-274320" marL="274320">
              <a:lnSpc>
                <a:spcPct val="112000"/>
              </a:lnSpc>
              <a:spcAft>
                <a:spcPts val="1400"/>
              </a:spcAft>
              <a:buClr>
                <a:srgbClr val="4F81BD"/>
              </a:buClr>
              <a:buFont typeface="Arial"/>
              <a:buChar char="▪"/>
            </a:pPr>
            <a:r>
              <a:rPr sz="1900" b="0" i="0">
                <a:solidFill>
                  <a:srgbClr val="20242B"/>
                </a:solidFill>
                <a:latin typeface="Calibri"/>
              </a:rPr>
              <a:t>Cœur IA : InsightFace (RetinaFace + ArcFace) via ONNX Runtime, OpenCV.</a:t>
            </a:r>
          </a:p>
          <a:p>
            <a:pPr indent="-274320" marL="274320">
              <a:lnSpc>
                <a:spcPct val="112000"/>
              </a:lnSpc>
              <a:spcAft>
                <a:spcPts val="1400"/>
              </a:spcAft>
              <a:buClr>
                <a:srgbClr val="4F81BD"/>
              </a:buClr>
              <a:buFont typeface="Arial"/>
              <a:buChar char="▪"/>
            </a:pPr>
            <a:r>
              <a:rPr sz="1900" b="0" i="0">
                <a:solidFill>
                  <a:srgbClr val="20242B"/>
                </a:solidFill>
                <a:latin typeface="Calibri"/>
              </a:rPr>
              <a:t>Backend : FastAPI + SQLAlchemy + SQLite ; tableau de bord en gabarits Jinja2.</a:t>
            </a:r>
          </a:p>
          <a:p>
            <a:pPr indent="-274320" marL="274320">
              <a:lnSpc>
                <a:spcPct val="112000"/>
              </a:lnSpc>
              <a:spcAft>
                <a:spcPts val="1400"/>
              </a:spcAft>
              <a:buClr>
                <a:srgbClr val="4F81BD"/>
              </a:buClr>
              <a:buFont typeface="Arial"/>
              <a:buChar char="▪"/>
            </a:pPr>
            <a:r>
              <a:rPr sz="1900" b="0" i="0">
                <a:solidFill>
                  <a:srgbClr val="20242B"/>
                </a:solidFill>
                <a:latin typeface="Calibri"/>
              </a:rPr>
              <a:t>Exports Excel / PDF ; module anti-spoofing MiniFASNet-V2.</a:t>
            </a:r>
          </a:p>
          <a:p>
            <a:pPr indent="-274320" marL="274320">
              <a:lnSpc>
                <a:spcPct val="112000"/>
              </a:lnSpc>
              <a:spcAft>
                <a:spcPts val="1400"/>
              </a:spcAft>
              <a:buClr>
                <a:srgbClr val="4F81BD"/>
              </a:buClr>
              <a:buFont typeface="Arial"/>
              <a:buChar char="▪"/>
            </a:pPr>
            <a:r>
              <a:rPr sz="1900" b="0" i="0">
                <a:solidFill>
                  <a:srgbClr val="20242B"/>
                </a:solidFill>
                <a:latin typeface="Calibri"/>
              </a:rPr>
              <a:t>Principe clé : la reconnaissance propose, l'enseignant valide, puis on enregistre.</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6. Démonstration — prise de présence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p_reconnaissance.png"/>
          <p:cNvPicPr>
            <a:picLocks noChangeAspect="1"/>
          </p:cNvPicPr>
          <p:nvPr/>
        </p:nvPicPr>
        <p:blipFill>
          <a:blip r:embed="rId2"/>
          <a:stretch>
            <a:fillRect/>
          </a:stretch>
        </p:blipFill>
        <p:spPr>
          <a:xfrm>
            <a:off x="2340032" y="1691640"/>
            <a:ext cx="7481454"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Sur une photo de la classe, chaque étudiant est détecté, reconnu et nommé, avant validation.</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évaluation contrôlée (LFW)</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similarites.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15 identités, 56 photos de test → précision top-1 de 100 % ; distributions nettement séparées.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calibration du seuil</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r_frr.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FAR et FRR nuls entre 0,20 et 0,50 ; seuil retenu : 0,35.</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scène multi-visages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lasse_annotee.png"/>
          <p:cNvPicPr>
            <a:picLocks noChangeAspect="1"/>
          </p:cNvPicPr>
          <p:nvPr/>
        </p:nvPicPr>
        <p:blipFill>
          <a:blip r:embed="rId2"/>
          <a:stretch>
            <a:fillRect/>
          </a:stretch>
        </p:blipFill>
        <p:spPr>
          <a:xfrm>
            <a:off x="2441146" y="1691640"/>
            <a:ext cx="7279227"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Photo de classe : 6/6 étudiants reconnus et nommés, 2/2 intrus rejetés (« Inconnu »), ~2 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8. Éthique &amp; conformité — loi 09-08</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Le visage est une donnée biométrique sensible (loi 09-08, contrôle CNDP).</a:t>
            </a:r>
          </a:p>
          <a:p>
            <a:pPr indent="-274320" marL="274320">
              <a:lnSpc>
                <a:spcPct val="112000"/>
              </a:lnSpc>
              <a:spcAft>
                <a:spcPts val="1400"/>
              </a:spcAft>
              <a:buClr>
                <a:srgbClr val="4F81BD"/>
              </a:buClr>
              <a:buFont typeface="Arial"/>
              <a:buChar char="▪"/>
            </a:pPr>
            <a:r>
              <a:rPr sz="1900" b="0" i="0">
                <a:solidFill>
                  <a:srgbClr val="20242B"/>
                </a:solidFill>
                <a:latin typeface="Calibri"/>
              </a:rPr>
              <a:t>Consentement explicite et écrit de chaque personne enrôlée.</a:t>
            </a:r>
          </a:p>
          <a:p>
            <a:pPr indent="-274320" marL="274320">
              <a:lnSpc>
                <a:spcPct val="112000"/>
              </a:lnSpc>
              <a:spcAft>
                <a:spcPts val="1400"/>
              </a:spcAft>
              <a:buClr>
                <a:srgbClr val="4F81BD"/>
              </a:buClr>
              <a:buFont typeface="Arial"/>
              <a:buChar char="▪"/>
            </a:pPr>
            <a:r>
              <a:rPr sz="1900" b="0" i="0">
                <a:solidFill>
                  <a:srgbClr val="20242B"/>
                </a:solidFill>
                <a:latin typeface="Calibri"/>
              </a:rPr>
              <a:t>Minimisation : on conserve les empreintes plutôt que les images.</a:t>
            </a:r>
          </a:p>
          <a:p>
            <a:pPr indent="-274320" marL="274320">
              <a:lnSpc>
                <a:spcPct val="112000"/>
              </a:lnSpc>
              <a:spcAft>
                <a:spcPts val="1400"/>
              </a:spcAft>
              <a:buClr>
                <a:srgbClr val="4F81BD"/>
              </a:buClr>
              <a:buFont typeface="Arial"/>
              <a:buChar char="▪"/>
            </a:pPr>
            <a:r>
              <a:rPr sz="1900" b="0" i="0">
                <a:solidFill>
                  <a:srgbClr val="20242B"/>
                </a:solidFill>
                <a:latin typeface="Calibri"/>
              </a:rPr>
              <a:t>Finalité déterminée, accès restreint, sécurité, suppression en fin de projet.</a:t>
            </a:r>
          </a:p>
          <a:p>
            <a:pPr indent="-274320" marL="274320">
              <a:lnSpc>
                <a:spcPct val="112000"/>
              </a:lnSpc>
              <a:spcAft>
                <a:spcPts val="1400"/>
              </a:spcAft>
              <a:buClr>
                <a:srgbClr val="4F81BD"/>
              </a:buClr>
              <a:buFont typeface="Arial"/>
              <a:buChar char="▪"/>
            </a:pPr>
            <a:r>
              <a:rPr sz="1900" b="0" i="0">
                <a:solidFill>
                  <a:srgbClr val="20242B"/>
                </a:solidFill>
                <a:latin typeface="Calibri"/>
              </a:rPr>
              <a:t>Droits garantis : accès, rectification, suppression, retrait du consentement.</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9. Conclusion &amp; perspectives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Une application complète : enrôlement → reconnaissance → validation → rapports.</a:t>
            </a:r>
          </a:p>
          <a:p>
            <a:pPr indent="-274320" marL="274320">
              <a:lnSpc>
                <a:spcPct val="112000"/>
              </a:lnSpc>
              <a:spcAft>
                <a:spcPts val="1400"/>
              </a:spcAft>
              <a:buClr>
                <a:srgbClr val="4F81BD"/>
              </a:buClr>
              <a:buFont typeface="Arial"/>
              <a:buChar char="▪"/>
            </a:pPr>
            <a:r>
              <a:rPr sz="1900" b="0" i="0">
                <a:solidFill>
                  <a:srgbClr val="20242B"/>
                </a:solidFill>
                <a:latin typeface="Calibri"/>
              </a:rPr>
              <a:t>Cœur du système validé : 100 % en conditions contrôlées, robuste en multi-visages.</a:t>
            </a:r>
          </a:p>
          <a:p>
            <a:pPr indent="-274320" marL="274320">
              <a:lnSpc>
                <a:spcPct val="112000"/>
              </a:lnSpc>
              <a:spcAft>
                <a:spcPts val="1400"/>
              </a:spcAft>
              <a:buClr>
                <a:srgbClr val="4F81BD"/>
              </a:buClr>
              <a:buFont typeface="Arial"/>
              <a:buChar char="▪"/>
            </a:pPr>
            <a:r>
              <a:rPr sz="1900" b="0" i="0">
                <a:solidFill>
                  <a:srgbClr val="20242B"/>
                </a:solidFill>
                <a:latin typeface="Calibri"/>
              </a:rPr>
              <a:t>Perspectives :</a:t>
            </a:r>
          </a:p>
          <a:p>
            <a:pPr indent="-274320" marL="548640" lvl="1">
              <a:lnSpc>
                <a:spcPct val="112000"/>
              </a:lnSpc>
              <a:spcAft>
                <a:spcPts val="1400"/>
              </a:spcAft>
              <a:buClr>
                <a:srgbClr val="9AB4D4"/>
              </a:buClr>
              <a:buFont typeface="Arial"/>
              <a:buChar char="–"/>
            </a:pPr>
            <a:r>
              <a:rPr sz="1600" b="0" i="0">
                <a:solidFill>
                  <a:srgbClr val="595959"/>
                </a:solidFill>
                <a:latin typeface="Calibri"/>
              </a:rPr>
              <a:t>validation sur une vraie photo de classe (avec consentement) ;</a:t>
            </a:r>
          </a:p>
          <a:p>
            <a:pPr indent="-274320" marL="548640" lvl="1">
              <a:lnSpc>
                <a:spcPct val="112000"/>
              </a:lnSpc>
              <a:spcAft>
                <a:spcPts val="1400"/>
              </a:spcAft>
              <a:buClr>
                <a:srgbClr val="9AB4D4"/>
              </a:buClr>
              <a:buFont typeface="Arial"/>
              <a:buChar char="–"/>
            </a:pPr>
            <a:r>
              <a:rPr sz="1600" b="0" i="0">
                <a:solidFill>
                  <a:srgbClr val="595959"/>
                </a:solidFill>
                <a:latin typeface="Calibri"/>
              </a:rPr>
              <a:t>anti-spoofing éprouvé face à de vraies attaques ; reconnaissance en temps réel ;</a:t>
            </a:r>
          </a:p>
          <a:p>
            <a:pPr indent="-274320" marL="548640" lvl="1">
              <a:lnSpc>
                <a:spcPct val="112000"/>
              </a:lnSpc>
              <a:spcAft>
                <a:spcPts val="1400"/>
              </a:spcAft>
              <a:buClr>
                <a:srgbClr val="9AB4D4"/>
              </a:buClr>
              <a:buFont typeface="Arial"/>
              <a:buChar char="–"/>
            </a:pPr>
            <a:r>
              <a:rPr sz="1600" b="0" i="0">
                <a:solidFill>
                  <a:srgbClr val="595959"/>
                </a:solidFill>
                <a:latin typeface="Calibri"/>
              </a:rPr>
              <a:t>application mobile et intégration au système d'information.</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212080" y="1097280"/>
            <a:ext cx="2377440" cy="914400"/>
          </a:xfrm>
          <a:prstGeom prst="rect">
            <a:avLst/>
          </a:prstGeom>
        </p:spPr>
      </p:pic>
      <p:sp>
        <p:nvSpPr>
          <p:cNvPr id="5" name="TextBox 4"/>
          <p:cNvSpPr txBox="1"/>
          <p:nvPr/>
        </p:nvSpPr>
        <p:spPr>
          <a:xfrm>
            <a:off x="914400" y="2651760"/>
            <a:ext cx="10360152" cy="1463040"/>
          </a:xfrm>
          <a:prstGeom prst="rect">
            <a:avLst/>
          </a:prstGeom>
          <a:noFill/>
        </p:spPr>
        <p:txBody>
          <a:bodyPr wrap="square">
            <a:spAutoFit/>
          </a:bodyPr>
          <a:lstStyle/>
          <a:p>
            <a:pPr algn="ctr"/>
            <a:r>
              <a:rPr sz="4000" b="1" i="0">
                <a:solidFill>
                  <a:srgbClr val="FFFFFF"/>
                </a:solidFill>
                <a:latin typeface="Calibri"/>
              </a:rPr>
              <a:t>Merci de votre attention</a:t>
            </a:r>
          </a:p>
          <a:p>
            <a:pPr algn="ctr">
              <a:spcBef>
                <a:spcPts val="1000"/>
              </a:spcBef>
            </a:pPr>
            <a:r>
              <a:rPr sz="2000" b="0" i="1">
                <a:solidFill>
                  <a:srgbClr val="BED0E8"/>
                </a:solidFill>
                <a:latin typeface="Calibri"/>
              </a:rPr>
              <a:t>Questions &amp; discussion</a:t>
            </a:r>
          </a:p>
        </p:txBody>
      </p:sp>
      <p:sp>
        <p:nvSpPr>
          <p:cNvPr id="6" name="TextBox 5"/>
          <p:cNvSpPr txBox="1"/>
          <p:nvPr/>
        </p:nvSpPr>
        <p:spPr>
          <a:xfrm>
            <a:off x="914400" y="4937760"/>
            <a:ext cx="10360152" cy="914400"/>
          </a:xfrm>
          <a:prstGeom prst="rect">
            <a:avLst/>
          </a:prstGeom>
          <a:noFill/>
        </p:spPr>
        <p:txBody>
          <a:bodyPr wrap="square">
            <a:spAutoFit/>
          </a:bodyPr>
          <a:lstStyle/>
          <a:p>
            <a:pPr algn="ctr"/>
            <a:r>
              <a:rPr sz="1400" b="0" i="0">
                <a:solidFill>
                  <a:srgbClr val="D7E0EF"/>
                </a:solidFill>
                <a:latin typeface="Calibri"/>
              </a:rPr>
              <a:t>BENDADI Mohamed · SADEK Zakaria · BELHASSAN Amine</a:t>
            </a:r>
          </a:p>
          <a:p>
            <a:pPr algn="ctr"/>
            <a:r>
              <a:rPr sz="1300" b="0" i="0">
                <a:solidFill>
                  <a:srgbClr val="BED0E8"/>
                </a:solidFill>
                <a:latin typeface="Calibri"/>
              </a:rPr>
              <a:t>Encadré par M. Adama SAMAKE — ISGA, 2025/2026</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