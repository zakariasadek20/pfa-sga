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Nous sommes trois étudiants de l'ISGA. Notre projet est un système qui fait la présence en classe avec la reconnaissance des visages. Je vais vous le présenter.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plan de notre présentation. Nous allons voir le contexte, les objectifs, la conception, puis une démonstration, les résultats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Aujourd'hui, l'appel se fait à la main, et cela prend beaucoup de temps. Un étudiant peut aussi répondre à la place d'un absent. Et les feuilles de papier se perdent. Nous voulons une présence rapide, fiable et éthique.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but est de reconnaître les étudiants avec une simple photo de la classe. Le système enregistre les présences et les montre à l'enseignant. Il doit marcher sur un ordinateur normal, et respecter la loi sur les données personnelles.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reconnaissance a quatre étapes, de la détection jusqu'à la comparaison des visages. Nous utilisons deux outils très connus, RetinaFace et ArcFace. Ces deux outils existent déjà, et ils sont parmi les meilleurs. Ils sont au centre de notre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système a trois couches. Il y a l'interface web pour l'enseignant, le serveur avec l'intelligence artificielle, et la base de données. Cette organisation rend le système clair et facile à améliorer.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personnes utilisent le système. L'enseignant fait la présence et valide la liste. L'administrateur gère les étudiants. Et l'étudiant voit son taux de présence. Le plus important, c'est que l'enseignant valide toujours à la fin.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réalisation, nous avons utilisé le langage Python et l'outil InsightFace. Le serveur est fait avec FastAPI et une base de données SQLite. Nous avons aussi ajouté les exports Excel et PDF, et un module contre la fraude.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une démonstration réelle. L'enseignant met une photo de la classe. Le système trouve chaque visage et affiche le nom de l'étudiant avec un score. L'enseignant coche les présents, puis il valide. C'est simple et rapide.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tester le système, nous avons utilisé un jeu de données public, appelé LFW. La précision est de cent pour cent. Sur ce graphique, on voit deux groupes bien séparés. La décision est donc facile et sûre.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nous choisissons le seuil de décision. Dans une grande zone, le système ne fait aucune erreur. Nous avons choisi la valeur du milieu, pour être sûrs.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aussi testé plusieurs visages sur une même photo. Sur six étudiants et deux inconnus, le système trouve les six étudiants, et il refuse les deux inconnus. Le tout en deux secondes.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visage est une donnée personnelle sensible. Au Maroc, la loi la protège. Nous demandons donc l'accord écrit de chaque personne. Et nous gardons un code du visage, pas les images.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notre application est complète et elle marche bien. Le système donne de très bons résultats. Ensuite, nous voulons le tester dans une vraie classe, et ajouter le temps réel.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beaucoup de votre attention. Nous sommes prêts à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ga-logo.png"/>
          <p:cNvPicPr>
            <a:picLocks noChangeAspect="1"/>
          </p:cNvPicPr>
          <p:nvPr/>
        </p:nvPicPr>
        <p:blipFill>
          <a:blip r:embed="rId2"/>
          <a:stretch>
            <a:fillRect/>
          </a:stretch>
        </p:blipFill>
        <p:spPr>
          <a:xfrm>
            <a:off x="5074920" y="777240"/>
            <a:ext cx="2734056" cy="1051560"/>
          </a:xfrm>
          <a:prstGeom prst="rect">
            <a:avLst/>
          </a:prstGeom>
        </p:spPr>
      </p:pic>
      <p:sp>
        <p:nvSpPr>
          <p:cNvPr id="5" name="TextBox 4"/>
          <p:cNvSpPr txBox="1"/>
          <p:nvPr/>
        </p:nvSpPr>
        <p:spPr>
          <a:xfrm>
            <a:off x="914400" y="2286000"/>
            <a:ext cx="10360152" cy="1737360"/>
          </a:xfrm>
          <a:prstGeom prst="rect">
            <a:avLst/>
          </a:prstGeom>
          <a:noFill/>
        </p:spPr>
        <p:txBody>
          <a:bodyPr wrap="square">
            <a:spAutoFit/>
          </a:bodyPr>
          <a:lstStyle/>
          <a:p>
            <a:pPr algn="ctr"/>
            <a:r>
              <a:rPr sz="3400" b="1" i="0">
                <a:solidFill>
                  <a:srgbClr val="FFFFFF"/>
                </a:solidFill>
                <a:latin typeface="Calibri"/>
              </a:rPr>
              <a:t>Système intelligent de gestion des présences</a:t>
            </a:r>
          </a:p>
          <a:p>
            <a:pPr algn="ctr"/>
            <a:r>
              <a:rPr sz="3400" b="1" i="0">
                <a:solidFill>
                  <a:srgbClr val="FFFFFF"/>
                </a:solidFill>
                <a:latin typeface="Calibri"/>
              </a:rPr>
              <a:t>par reconnaissance faciale</a:t>
            </a:r>
          </a:p>
          <a:p>
            <a:pPr algn="ctr">
              <a:spcBef>
                <a:spcPts val="1400"/>
              </a:spcBef>
            </a:pPr>
            <a:r>
              <a:rPr sz="1800" b="0" i="1">
                <a:solidFill>
                  <a:srgbClr val="BED0E8"/>
                </a:solidFill>
                <a:latin typeface="Calibri"/>
              </a:rPr>
              <a:t>« AI Class Attendance for Students »</a:t>
            </a:r>
          </a:p>
        </p:txBody>
      </p:sp>
      <p:sp>
        <p:nvSpPr>
          <p:cNvPr id="6" name="TextBox 5"/>
          <p:cNvSpPr txBox="1"/>
          <p:nvPr/>
        </p:nvSpPr>
        <p:spPr>
          <a:xfrm>
            <a:off x="914400" y="4709160"/>
            <a:ext cx="10360152" cy="1554480"/>
          </a:xfrm>
          <a:prstGeom prst="rect">
            <a:avLst/>
          </a:prstGeom>
          <a:noFill/>
        </p:spPr>
        <p:txBody>
          <a:bodyPr wrap="square">
            <a:spAutoFit/>
          </a:bodyPr>
          <a:lstStyle/>
          <a:p>
            <a:pPr algn="ctr"/>
            <a:r>
              <a:rPr sz="1500" b="0" i="0">
                <a:solidFill>
                  <a:srgbClr val="D7E0EF"/>
                </a:solidFill>
                <a:latin typeface="Calibri"/>
              </a:rPr>
              <a:t>Projet de Fin d'Année — Cycle d'ingénieur (2ᵉ année) — 2025 / 2026</a:t>
            </a:r>
          </a:p>
          <a:p>
            <a:pPr algn="ctr">
              <a:spcBef>
                <a:spcPts val="1200"/>
              </a:spcBef>
            </a:pPr>
            <a:r>
              <a:rPr sz="1500" b="1" i="0">
                <a:solidFill>
                  <a:srgbClr val="FFFFFF"/>
                </a:solidFill>
                <a:latin typeface="Calibri"/>
              </a:rPr>
              <a:t>Réalisé par : </a:t>
            </a:r>
            <a:r>
              <a:rPr sz="1500" b="0" i="0">
                <a:solidFill>
                  <a:srgbClr val="FFFFFF"/>
                </a:solidFill>
                <a:latin typeface="Calibri"/>
              </a:rPr>
              <a:t>BENDADI Mohamed · SADEK Zakaria · BELHASSAN Amine</a:t>
            </a:r>
          </a:p>
          <a:p>
            <a:pPr algn="ctr">
              <a:spcBef>
                <a:spcPts val="400"/>
              </a:spcBef>
            </a:pPr>
            <a:r>
              <a:rPr sz="1500" b="1" i="0">
                <a:solidFill>
                  <a:srgbClr val="FFFFFF"/>
                </a:solidFill>
                <a:latin typeface="Calibri"/>
              </a:rPr>
              <a:t>Encadré par : </a:t>
            </a:r>
            <a:r>
              <a:rPr sz="1500" b="0" i="0">
                <a:solidFill>
                  <a:srgbClr val="FFFFFF"/>
                </a:solidFill>
                <a:latin typeface="Calibri"/>
              </a:rPr>
              <a:t>M. Adama SAMAKE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Plan de la présentation</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0058400" cy="4297680"/>
          </a:xfrm>
          <a:prstGeom prst="rect">
            <a:avLst/>
          </a:prstGeom>
          <a:noFill/>
        </p:spPr>
        <p:txBody>
          <a:bodyPr wrap="square">
            <a:spAutoFit/>
          </a:bodyPr>
          <a:lstStyle/>
          <a:p>
            <a:pPr>
              <a:spcAft>
                <a:spcPts val="1000"/>
              </a:spcAft>
            </a:pPr>
            <a:r>
              <a:rPr sz="1900" b="0" i="0">
                <a:solidFill>
                  <a:srgbClr val="20242B"/>
                </a:solidFill>
                <a:latin typeface="Calibri"/>
              </a:rPr>
              <a:t>1.  Contexte &amp; problématique</a:t>
            </a:r>
          </a:p>
          <a:p>
            <a:pPr>
              <a:spcAft>
                <a:spcPts val="1000"/>
              </a:spcAft>
            </a:pPr>
            <a:r>
              <a:rPr sz="1900" b="0" i="0">
                <a:solidFill>
                  <a:srgbClr val="20242B"/>
                </a:solidFill>
                <a:latin typeface="Calibri"/>
              </a:rPr>
              <a:t>2.  Objectifs du projet</a:t>
            </a:r>
          </a:p>
          <a:p>
            <a:pPr>
              <a:spcAft>
                <a:spcPts val="1000"/>
              </a:spcAft>
            </a:pPr>
            <a:r>
              <a:rPr sz="1900" b="0" i="0">
                <a:solidFill>
                  <a:srgbClr val="20242B"/>
                </a:solidFill>
                <a:latin typeface="Calibri"/>
              </a:rPr>
              <a:t>3.  État de l'art</a:t>
            </a:r>
          </a:p>
          <a:p>
            <a:pPr>
              <a:spcAft>
                <a:spcPts val="1000"/>
              </a:spcAft>
            </a:pPr>
            <a:r>
              <a:rPr sz="1900" b="0" i="0">
                <a:solidFill>
                  <a:srgbClr val="20242B"/>
                </a:solidFill>
                <a:latin typeface="Calibri"/>
              </a:rPr>
              <a:t>4.  Conception du système</a:t>
            </a:r>
          </a:p>
          <a:p>
            <a:pPr>
              <a:spcAft>
                <a:spcPts val="1000"/>
              </a:spcAft>
            </a:pPr>
            <a:r>
              <a:rPr sz="1900" b="0" i="0">
                <a:solidFill>
                  <a:srgbClr val="20242B"/>
                </a:solidFill>
                <a:latin typeface="Calibri"/>
              </a:rPr>
              <a:t>5.  Implémentation</a:t>
            </a:r>
          </a:p>
          <a:p>
            <a:pPr>
              <a:spcAft>
                <a:spcPts val="1000"/>
              </a:spcAft>
            </a:pPr>
            <a:r>
              <a:rPr sz="1900" b="0" i="0">
                <a:solidFill>
                  <a:srgbClr val="20242B"/>
                </a:solidFill>
                <a:latin typeface="Calibri"/>
              </a:rPr>
              <a:t>6.  Démonstration</a:t>
            </a:r>
          </a:p>
          <a:p>
            <a:pPr>
              <a:spcAft>
                <a:spcPts val="1000"/>
              </a:spcAft>
            </a:pPr>
            <a:r>
              <a:rPr sz="1900" b="0" i="0">
                <a:solidFill>
                  <a:srgbClr val="20242B"/>
                </a:solidFill>
                <a:latin typeface="Calibri"/>
              </a:rPr>
              <a:t>7.  Résultats &amp; évaluation</a:t>
            </a:r>
          </a:p>
          <a:p>
            <a:pPr>
              <a:spcAft>
                <a:spcPts val="1000"/>
              </a:spcAft>
            </a:pPr>
            <a:r>
              <a:rPr sz="1900" b="0" i="0">
                <a:solidFill>
                  <a:srgbClr val="20242B"/>
                </a:solidFill>
                <a:latin typeface="Calibri"/>
              </a:rPr>
              <a:t>8.  Éthique &amp; conformité (loi 09-08)</a:t>
            </a:r>
          </a:p>
          <a:p>
            <a:pPr>
              <a:spcAft>
                <a:spcPts val="1000"/>
              </a:spcAft>
            </a:pPr>
            <a:r>
              <a:rPr sz="1900" b="0" i="0">
                <a:solidFill>
                  <a:srgbClr val="20242B"/>
                </a:solidFill>
                <a:latin typeface="Calibri"/>
              </a:rPr>
              <a:t>9.  Conclusion &amp; perspectives</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1. Contexte &amp; problématique</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06240"/>
          </a:xfrm>
          <a:prstGeom prst="rect">
            <a:avLst/>
          </a:prstGeom>
          <a:noFill/>
        </p:spPr>
        <p:txBody>
          <a:bodyPr wrap="square">
            <a:spAutoFit/>
          </a:bodyPr>
          <a:lstStyle/>
          <a:p>
            <a:pPr indent="-274320" marL="274320">
              <a:lnSpc>
                <a:spcPct val="112000"/>
              </a:lnSpc>
              <a:spcAft>
                <a:spcPts val="1400"/>
              </a:spcAft>
              <a:buClr>
                <a:srgbClr val="4F81BD"/>
              </a:buClr>
              <a:buFont typeface="Arial"/>
              <a:buChar char="▪"/>
            </a:pPr>
            <a:r>
              <a:rPr sz="1900" b="0" i="0">
                <a:solidFill>
                  <a:srgbClr val="20242B"/>
                </a:solidFill>
                <a:latin typeface="Calibri"/>
              </a:rPr>
              <a:t>L'appel manuel mobilise 5 à 10 minutes par séance — autant de temps pédagogique perdu.</a:t>
            </a:r>
          </a:p>
          <a:p>
            <a:pPr indent="-274320" marL="274320">
              <a:lnSpc>
                <a:spcPct val="112000"/>
              </a:lnSpc>
              <a:spcAft>
                <a:spcPts val="1400"/>
              </a:spcAft>
              <a:buClr>
                <a:srgbClr val="4F81BD"/>
              </a:buClr>
              <a:buFont typeface="Arial"/>
              <a:buChar char="▪"/>
            </a:pPr>
            <a:r>
              <a:rPr sz="1900" b="0" i="0">
                <a:solidFill>
                  <a:srgbClr val="20242B"/>
                </a:solidFill>
                <a:latin typeface="Calibri"/>
              </a:rPr>
              <a:t>La fraude par procuration (proxy attendance) : un étudiant répond ou signe pour un absent.</a:t>
            </a:r>
          </a:p>
          <a:p>
            <a:pPr indent="-274320" marL="274320">
              <a:lnSpc>
                <a:spcPct val="112000"/>
              </a:lnSpc>
              <a:spcAft>
                <a:spcPts val="1400"/>
              </a:spcAft>
              <a:buClr>
                <a:srgbClr val="4F81BD"/>
              </a:buClr>
              <a:buFont typeface="Arial"/>
              <a:buChar char="▪"/>
            </a:pPr>
            <a:r>
              <a:rPr sz="1900" b="0" i="0">
                <a:solidFill>
                  <a:srgbClr val="20242B"/>
                </a:solidFill>
                <a:latin typeface="Calibri"/>
              </a:rPr>
              <a:t>Les feuilles papier se perdent, se raturent, et ne produisent aucune statistique.</a:t>
            </a:r>
          </a:p>
          <a:p>
            <a:pPr indent="-274320" marL="274320">
              <a:lnSpc>
                <a:spcPct val="112000"/>
              </a:lnSpc>
              <a:spcAft>
                <a:spcPts val="1400"/>
              </a:spcAft>
              <a:buClr>
                <a:srgbClr val="4F81BD"/>
              </a:buClr>
              <a:buFont typeface="Arial"/>
              <a:buChar char="▪"/>
            </a:pPr>
            <a:r>
              <a:rPr sz="1900" b="0" i="0">
                <a:solidFill>
                  <a:srgbClr val="20242B"/>
                </a:solidFill>
                <a:latin typeface="Calibri"/>
              </a:rPr>
              <a:t>Comment automatiser l'appel de façon fiable, rapide et éthique ?</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2. Objectifs du projet</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06240"/>
          </a:xfrm>
          <a:prstGeom prst="rect">
            <a:avLst/>
          </a:prstGeom>
          <a:noFill/>
        </p:spPr>
        <p:txBody>
          <a:bodyPr wrap="square">
            <a:spAutoFit/>
          </a:bodyPr>
          <a:lstStyle/>
          <a:p>
            <a:pPr indent="-274320" marL="274320">
              <a:lnSpc>
                <a:spcPct val="112000"/>
              </a:lnSpc>
              <a:spcAft>
                <a:spcPts val="1400"/>
              </a:spcAft>
              <a:buClr>
                <a:srgbClr val="4F81BD"/>
              </a:buClr>
              <a:buFont typeface="Arial"/>
              <a:buChar char="▪"/>
            </a:pPr>
            <a:r>
              <a:rPr sz="1900" b="0" i="0">
                <a:solidFill>
                  <a:srgbClr val="20242B"/>
                </a:solidFill>
                <a:latin typeface="Calibri"/>
              </a:rPr>
              <a:t>Identifier automatiquement les étudiants présents à partir d'une photo de la classe.</a:t>
            </a:r>
          </a:p>
          <a:p>
            <a:pPr indent="-274320" marL="274320">
              <a:lnSpc>
                <a:spcPct val="112000"/>
              </a:lnSpc>
              <a:spcAft>
                <a:spcPts val="1400"/>
              </a:spcAft>
              <a:buClr>
                <a:srgbClr val="4F81BD"/>
              </a:buClr>
              <a:buFont typeface="Arial"/>
              <a:buChar char="▪"/>
            </a:pPr>
            <a:r>
              <a:rPr sz="1900" b="0" i="0">
                <a:solidFill>
                  <a:srgbClr val="20242B"/>
                </a:solidFill>
                <a:latin typeface="Calibri"/>
              </a:rPr>
              <a:t>Enregistrer les présences et offrir à l'enseignant un tableau de bord de suivi.</a:t>
            </a:r>
          </a:p>
          <a:p>
            <a:pPr indent="-274320" marL="274320">
              <a:lnSpc>
                <a:spcPct val="112000"/>
              </a:lnSpc>
              <a:spcAft>
                <a:spcPts val="1400"/>
              </a:spcAft>
              <a:buClr>
                <a:srgbClr val="4F81BD"/>
              </a:buClr>
              <a:buFont typeface="Arial"/>
              <a:buChar char="▪"/>
            </a:pPr>
            <a:r>
              <a:rPr sz="1900" b="0" i="0">
                <a:solidFill>
                  <a:srgbClr val="20242B"/>
                </a:solidFill>
                <a:latin typeface="Calibri"/>
              </a:rPr>
              <a:t>Atteindre une précision élevée sur du matériel standard (ordinateur portable, CPU).</a:t>
            </a:r>
          </a:p>
          <a:p>
            <a:pPr indent="-274320" marL="274320">
              <a:lnSpc>
                <a:spcPct val="112000"/>
              </a:lnSpc>
              <a:spcAft>
                <a:spcPts val="1400"/>
              </a:spcAft>
              <a:buClr>
                <a:srgbClr val="4F81BD"/>
              </a:buClr>
              <a:buFont typeface="Arial"/>
              <a:buChar char="▪"/>
            </a:pPr>
            <a:r>
              <a:rPr sz="1900" b="0" i="0">
                <a:solidFill>
                  <a:srgbClr val="20242B"/>
                </a:solidFill>
                <a:latin typeface="Calibri"/>
              </a:rPr>
              <a:t>Détecter la fraude par photo (détection du vivant / anti-spoofing).</a:t>
            </a:r>
          </a:p>
          <a:p>
            <a:pPr indent="-274320" marL="274320">
              <a:lnSpc>
                <a:spcPct val="112000"/>
              </a:lnSpc>
              <a:spcAft>
                <a:spcPts val="1400"/>
              </a:spcAft>
              <a:buClr>
                <a:srgbClr val="4F81BD"/>
              </a:buClr>
              <a:buFont typeface="Arial"/>
              <a:buChar char="▪"/>
            </a:pPr>
            <a:r>
              <a:rPr sz="1900" b="0" i="0">
                <a:solidFill>
                  <a:srgbClr val="20242B"/>
                </a:solidFill>
                <a:latin typeface="Calibri"/>
              </a:rPr>
              <a:t>Respecter la réglementation sur les données biométriques (loi 09-08 / CNDP).</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3. État de l'art</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06240"/>
          </a:xfrm>
          <a:prstGeom prst="rect">
            <a:avLst/>
          </a:prstGeom>
          <a:noFill/>
        </p:spPr>
        <p:txBody>
          <a:bodyPr wrap="square">
            <a:spAutoFit/>
          </a:bodyPr>
          <a:lstStyle/>
          <a:p>
            <a:pPr indent="-274320" marL="274320">
              <a:lnSpc>
                <a:spcPct val="112000"/>
              </a:lnSpc>
              <a:spcAft>
                <a:spcPts val="1400"/>
              </a:spcAft>
              <a:buClr>
                <a:srgbClr val="4F81BD"/>
              </a:buClr>
              <a:buFont typeface="Arial"/>
              <a:buChar char="▪"/>
            </a:pPr>
            <a:r>
              <a:rPr sz="1900" b="0" i="0">
                <a:solidFill>
                  <a:srgbClr val="20242B"/>
                </a:solidFill>
                <a:latin typeface="Calibri"/>
              </a:rPr>
              <a:t>Chaîne de traitement : Détection → Alignement → Empreinte → Appariement.</a:t>
            </a:r>
          </a:p>
          <a:p>
            <a:pPr indent="-274320" marL="548640" lvl="1">
              <a:lnSpc>
                <a:spcPct val="112000"/>
              </a:lnSpc>
              <a:spcAft>
                <a:spcPts val="1400"/>
              </a:spcAft>
              <a:buClr>
                <a:srgbClr val="9AB4D4"/>
              </a:buClr>
              <a:buFont typeface="Arial"/>
              <a:buChar char="–"/>
            </a:pPr>
            <a:r>
              <a:rPr sz="1600" b="0" i="0">
                <a:solidFill>
                  <a:srgbClr val="595959"/>
                </a:solidFill>
                <a:latin typeface="Calibri"/>
              </a:rPr>
              <a:t>Détection : RetinaFace — robuste (petits visages, angles).</a:t>
            </a:r>
          </a:p>
          <a:p>
            <a:pPr indent="-274320" marL="548640" lvl="1">
              <a:lnSpc>
                <a:spcPct val="112000"/>
              </a:lnSpc>
              <a:spcAft>
                <a:spcPts val="1400"/>
              </a:spcAft>
              <a:buClr>
                <a:srgbClr val="9AB4D4"/>
              </a:buClr>
              <a:buFont typeface="Arial"/>
              <a:buChar char="–"/>
            </a:pPr>
            <a:r>
              <a:rPr sz="1600" b="0" i="0">
                <a:solidFill>
                  <a:srgbClr val="595959"/>
                </a:solidFill>
                <a:latin typeface="Calibri"/>
              </a:rPr>
              <a:t>Reconnaissance : ArcFace, empreinte 512-d — ~99,4 à 99,8 % sur LFW.</a:t>
            </a:r>
          </a:p>
          <a:p>
            <a:pPr indent="-274320" marL="548640" lvl="1">
              <a:lnSpc>
                <a:spcPct val="112000"/>
              </a:lnSpc>
              <a:spcAft>
                <a:spcPts val="1400"/>
              </a:spcAft>
              <a:buClr>
                <a:srgbClr val="9AB4D4"/>
              </a:buClr>
              <a:buFont typeface="Arial"/>
              <a:buChar char="–"/>
            </a:pPr>
            <a:r>
              <a:rPr sz="1600" b="0" i="0">
                <a:solidFill>
                  <a:srgbClr val="595959"/>
                </a:solidFill>
                <a:latin typeface="Calibri"/>
              </a:rPr>
              <a:t>Les meilleurs modèles dépassent la performance humaine (~97,5 %).</a:t>
            </a:r>
          </a:p>
          <a:p>
            <a:pPr indent="-274320" marL="274320">
              <a:lnSpc>
                <a:spcPct val="112000"/>
              </a:lnSpc>
              <a:spcAft>
                <a:spcPts val="1400"/>
              </a:spcAft>
              <a:buClr>
                <a:srgbClr val="4F81BD"/>
              </a:buClr>
              <a:buFont typeface="Arial"/>
              <a:buChar char="▪"/>
            </a:pPr>
            <a:r>
              <a:rPr sz="1900" b="0" i="0">
                <a:solidFill>
                  <a:srgbClr val="20242B"/>
                </a:solidFill>
                <a:latin typeface="Calibri"/>
              </a:rPr>
              <a:t>Notre choix : intégrer les meilleures briques pré-entraînées plutôt que réentraîner.</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4. Conception — architecture</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technique.png"/>
          <p:cNvPicPr>
            <a:picLocks noChangeAspect="1"/>
          </p:cNvPicPr>
          <p:nvPr/>
        </p:nvPicPr>
        <p:blipFill>
          <a:blip r:embed="rId2"/>
          <a:stretch>
            <a:fillRect/>
          </a:stretch>
        </p:blipFill>
        <p:spPr>
          <a:xfrm>
            <a:off x="1371496" y="1691640"/>
            <a:ext cx="9418526" cy="4114800"/>
          </a:xfrm>
          <a:prstGeom prst="rect">
            <a:avLst/>
          </a:prstGeom>
        </p:spPr>
      </p:pic>
      <p:sp>
        <p:nvSpPr>
          <p:cNvPr id="5" name="TextBox 4"/>
          <p:cNvSpPr txBox="1"/>
          <p:nvPr/>
        </p:nvSpPr>
        <p:spPr>
          <a:xfrm>
            <a:off x="822960" y="5943600"/>
            <a:ext cx="10515600" cy="365760"/>
          </a:xfrm>
          <a:prstGeom prst="rect">
            <a:avLst/>
          </a:prstGeom>
          <a:noFill/>
        </p:spPr>
        <p:txBody>
          <a:bodyPr wrap="square">
            <a:spAutoFit/>
          </a:bodyPr>
          <a:lstStyle/>
          <a:p>
            <a:pPr algn="ctr"/>
            <a:r>
              <a:rPr sz="1100" b="0" i="1">
                <a:solidFill>
                  <a:srgbClr val="365F91"/>
                </a:solidFill>
                <a:latin typeface="Calibri"/>
              </a:rPr>
              <a:t>Figure — Architecture technique en trois couches (interface, serveur + IA, persistance).</a:t>
            </a:r>
          </a:p>
        </p:txBody>
      </p:sp>
      <p:sp>
        <p:nvSpPr>
          <p:cNvPr id="6" name="Rectangle 5"/>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8" name="TextBox 7"/>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4. Conception — cas d'utilisation</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s-utilisation.png"/>
          <p:cNvPicPr>
            <a:picLocks noChangeAspect="1"/>
          </p:cNvPicPr>
          <p:nvPr/>
        </p:nvPicPr>
        <p:blipFill>
          <a:blip r:embed="rId2"/>
          <a:stretch>
            <a:fillRect/>
          </a:stretch>
        </p:blipFill>
        <p:spPr>
          <a:xfrm>
            <a:off x="3453085" y="1691640"/>
            <a:ext cx="5255349" cy="4114800"/>
          </a:xfrm>
          <a:prstGeom prst="rect">
            <a:avLst/>
          </a:prstGeom>
        </p:spPr>
      </p:pic>
      <p:sp>
        <p:nvSpPr>
          <p:cNvPr id="5" name="TextBox 4"/>
          <p:cNvSpPr txBox="1"/>
          <p:nvPr/>
        </p:nvSpPr>
        <p:spPr>
          <a:xfrm>
            <a:off x="822960" y="5943600"/>
            <a:ext cx="10515600" cy="365760"/>
          </a:xfrm>
          <a:prstGeom prst="rect">
            <a:avLst/>
          </a:prstGeom>
          <a:noFill/>
        </p:spPr>
        <p:txBody>
          <a:bodyPr wrap="square">
            <a:spAutoFit/>
          </a:bodyPr>
          <a:lstStyle/>
          <a:p>
            <a:pPr algn="ctr"/>
            <a:r>
              <a:rPr sz="1100" b="0" i="1">
                <a:solidFill>
                  <a:srgbClr val="365F91"/>
                </a:solidFill>
                <a:latin typeface="Calibri"/>
              </a:rPr>
              <a:t>Figure — Acteurs et cas d'utilisation ; l'enseignant valide toujours avant enregistrement.</a:t>
            </a:r>
          </a:p>
        </p:txBody>
      </p:sp>
      <p:sp>
        <p:nvSpPr>
          <p:cNvPr id="6" name="Rectangle 5"/>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8" name="TextBox 7"/>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5. Implémentation</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06240"/>
          </a:xfrm>
          <a:prstGeom prst="rect">
            <a:avLst/>
          </a:prstGeom>
          <a:noFill/>
        </p:spPr>
        <p:txBody>
          <a:bodyPr wrap="square">
            <a:spAutoFit/>
          </a:bodyPr>
          <a:lstStyle/>
          <a:p>
            <a:pPr indent="-274320" marL="274320">
              <a:lnSpc>
                <a:spcPct val="112000"/>
              </a:lnSpc>
              <a:spcAft>
                <a:spcPts val="1400"/>
              </a:spcAft>
              <a:buClr>
                <a:srgbClr val="4F81BD"/>
              </a:buClr>
              <a:buFont typeface="Arial"/>
              <a:buChar char="▪"/>
            </a:pPr>
            <a:r>
              <a:rPr sz="1900" b="0" i="0">
                <a:solidFill>
                  <a:srgbClr val="20242B"/>
                </a:solidFill>
                <a:latin typeface="Calibri"/>
              </a:rPr>
              <a:t>Python 3.12, exécution sur CPU (Apple Silicon, sans carte graphique).</a:t>
            </a:r>
          </a:p>
          <a:p>
            <a:pPr indent="-274320" marL="274320">
              <a:lnSpc>
                <a:spcPct val="112000"/>
              </a:lnSpc>
              <a:spcAft>
                <a:spcPts val="1400"/>
              </a:spcAft>
              <a:buClr>
                <a:srgbClr val="4F81BD"/>
              </a:buClr>
              <a:buFont typeface="Arial"/>
              <a:buChar char="▪"/>
            </a:pPr>
            <a:r>
              <a:rPr sz="1900" b="0" i="0">
                <a:solidFill>
                  <a:srgbClr val="20242B"/>
                </a:solidFill>
                <a:latin typeface="Calibri"/>
              </a:rPr>
              <a:t>Cœur IA : InsightFace (RetinaFace + ArcFace) via ONNX Runtime, OpenCV.</a:t>
            </a:r>
          </a:p>
          <a:p>
            <a:pPr indent="-274320" marL="274320">
              <a:lnSpc>
                <a:spcPct val="112000"/>
              </a:lnSpc>
              <a:spcAft>
                <a:spcPts val="1400"/>
              </a:spcAft>
              <a:buClr>
                <a:srgbClr val="4F81BD"/>
              </a:buClr>
              <a:buFont typeface="Arial"/>
              <a:buChar char="▪"/>
            </a:pPr>
            <a:r>
              <a:rPr sz="1900" b="0" i="0">
                <a:solidFill>
                  <a:srgbClr val="20242B"/>
                </a:solidFill>
                <a:latin typeface="Calibri"/>
              </a:rPr>
              <a:t>Backend : FastAPI + SQLAlchemy + SQLite ; tableau de bord en gabarits Jinja2.</a:t>
            </a:r>
          </a:p>
          <a:p>
            <a:pPr indent="-274320" marL="274320">
              <a:lnSpc>
                <a:spcPct val="112000"/>
              </a:lnSpc>
              <a:spcAft>
                <a:spcPts val="1400"/>
              </a:spcAft>
              <a:buClr>
                <a:srgbClr val="4F81BD"/>
              </a:buClr>
              <a:buFont typeface="Arial"/>
              <a:buChar char="▪"/>
            </a:pPr>
            <a:r>
              <a:rPr sz="1900" b="0" i="0">
                <a:solidFill>
                  <a:srgbClr val="20242B"/>
                </a:solidFill>
                <a:latin typeface="Calibri"/>
              </a:rPr>
              <a:t>Exports Excel / PDF ; module anti-spoofing MiniFASNet-V2.</a:t>
            </a:r>
          </a:p>
          <a:p>
            <a:pPr indent="-274320" marL="274320">
              <a:lnSpc>
                <a:spcPct val="112000"/>
              </a:lnSpc>
              <a:spcAft>
                <a:spcPts val="1400"/>
              </a:spcAft>
              <a:buClr>
                <a:srgbClr val="4F81BD"/>
              </a:buClr>
              <a:buFont typeface="Arial"/>
              <a:buChar char="▪"/>
            </a:pPr>
            <a:r>
              <a:rPr sz="1900" b="0" i="0">
                <a:solidFill>
                  <a:srgbClr val="20242B"/>
                </a:solidFill>
                <a:latin typeface="Calibri"/>
              </a:rPr>
              <a:t>Principe clé : la reconnaissance propose, l'enseignant valide, puis on enregistre.</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6. Démonstration — prise de présence</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_reconnaissance.png"/>
          <p:cNvPicPr>
            <a:picLocks noChangeAspect="1"/>
          </p:cNvPicPr>
          <p:nvPr/>
        </p:nvPicPr>
        <p:blipFill>
          <a:blip r:embed="rId2"/>
          <a:stretch>
            <a:fillRect/>
          </a:stretch>
        </p:blipFill>
        <p:spPr>
          <a:xfrm>
            <a:off x="2340032" y="1691640"/>
            <a:ext cx="7481454" cy="4114800"/>
          </a:xfrm>
          <a:prstGeom prst="rect">
            <a:avLst/>
          </a:prstGeom>
        </p:spPr>
      </p:pic>
      <p:sp>
        <p:nvSpPr>
          <p:cNvPr id="5" name="TextBox 4"/>
          <p:cNvSpPr txBox="1"/>
          <p:nvPr/>
        </p:nvSpPr>
        <p:spPr>
          <a:xfrm>
            <a:off x="822960" y="5943600"/>
            <a:ext cx="10515600" cy="365760"/>
          </a:xfrm>
          <a:prstGeom prst="rect">
            <a:avLst/>
          </a:prstGeom>
          <a:noFill/>
        </p:spPr>
        <p:txBody>
          <a:bodyPr wrap="square">
            <a:spAutoFit/>
          </a:bodyPr>
          <a:lstStyle/>
          <a:p>
            <a:pPr algn="ctr"/>
            <a:r>
              <a:rPr sz="1100" b="0" i="1">
                <a:solidFill>
                  <a:srgbClr val="365F91"/>
                </a:solidFill>
                <a:latin typeface="Calibri"/>
              </a:rPr>
              <a:t>Sur une photo de la classe, chaque étudiant est détecté, reconnu et nommé, avant validation.</a:t>
            </a:r>
          </a:p>
        </p:txBody>
      </p:sp>
      <p:sp>
        <p:nvSpPr>
          <p:cNvPr id="6" name="Rectangle 5"/>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8" name="TextBox 7"/>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7. Résultats — évaluation contrôlée (LFW)</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similarites.png"/>
          <p:cNvPicPr>
            <a:picLocks noChangeAspect="1"/>
          </p:cNvPicPr>
          <p:nvPr/>
        </p:nvPicPr>
        <p:blipFill>
          <a:blip r:embed="rId2"/>
          <a:stretch>
            <a:fillRect/>
          </a:stretch>
        </p:blipFill>
        <p:spPr>
          <a:xfrm>
            <a:off x="2651760" y="1691640"/>
            <a:ext cx="6858000" cy="4114800"/>
          </a:xfrm>
          <a:prstGeom prst="rect">
            <a:avLst/>
          </a:prstGeom>
        </p:spPr>
      </p:pic>
      <p:sp>
        <p:nvSpPr>
          <p:cNvPr id="5" name="TextBox 4"/>
          <p:cNvSpPr txBox="1"/>
          <p:nvPr/>
        </p:nvSpPr>
        <p:spPr>
          <a:xfrm>
            <a:off x="822960" y="5943600"/>
            <a:ext cx="10515600" cy="365760"/>
          </a:xfrm>
          <a:prstGeom prst="rect">
            <a:avLst/>
          </a:prstGeom>
          <a:noFill/>
        </p:spPr>
        <p:txBody>
          <a:bodyPr wrap="square">
            <a:spAutoFit/>
          </a:bodyPr>
          <a:lstStyle/>
          <a:p>
            <a:pPr algn="ctr"/>
            <a:r>
              <a:rPr sz="1100" b="0" i="1">
                <a:solidFill>
                  <a:srgbClr val="365F91"/>
                </a:solidFill>
                <a:latin typeface="Calibri"/>
              </a:rPr>
              <a:t>15 identités, 56 photos de test → précision top-1 de 100 % ; distributions nettement séparées.</a:t>
            </a:r>
          </a:p>
        </p:txBody>
      </p:sp>
      <p:sp>
        <p:nvSpPr>
          <p:cNvPr id="6" name="Rectangle 5"/>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8" name="TextBox 7"/>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7. Résultats — calibration du seuil</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far_frr.png"/>
          <p:cNvPicPr>
            <a:picLocks noChangeAspect="1"/>
          </p:cNvPicPr>
          <p:nvPr/>
        </p:nvPicPr>
        <p:blipFill>
          <a:blip r:embed="rId2"/>
          <a:stretch>
            <a:fillRect/>
          </a:stretch>
        </p:blipFill>
        <p:spPr>
          <a:xfrm>
            <a:off x="2651760" y="1691640"/>
            <a:ext cx="6858000" cy="4114800"/>
          </a:xfrm>
          <a:prstGeom prst="rect">
            <a:avLst/>
          </a:prstGeom>
        </p:spPr>
      </p:pic>
      <p:sp>
        <p:nvSpPr>
          <p:cNvPr id="5" name="TextBox 4"/>
          <p:cNvSpPr txBox="1"/>
          <p:nvPr/>
        </p:nvSpPr>
        <p:spPr>
          <a:xfrm>
            <a:off x="822960" y="5943600"/>
            <a:ext cx="10515600" cy="365760"/>
          </a:xfrm>
          <a:prstGeom prst="rect">
            <a:avLst/>
          </a:prstGeom>
          <a:noFill/>
        </p:spPr>
        <p:txBody>
          <a:bodyPr wrap="square">
            <a:spAutoFit/>
          </a:bodyPr>
          <a:lstStyle/>
          <a:p>
            <a:pPr algn="ctr"/>
            <a:r>
              <a:rPr sz="1100" b="0" i="1">
                <a:solidFill>
                  <a:srgbClr val="365F91"/>
                </a:solidFill>
                <a:latin typeface="Calibri"/>
              </a:rPr>
              <a:t>FAR et FRR nuls entre 0,20 et 0,50 ; seuil retenu : 0,35.</a:t>
            </a:r>
          </a:p>
        </p:txBody>
      </p:sp>
      <p:sp>
        <p:nvSpPr>
          <p:cNvPr id="6" name="Rectangle 5"/>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8" name="TextBox 7"/>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7. Résultats — scène multi-visages</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classe_annotee.png"/>
          <p:cNvPicPr>
            <a:picLocks noChangeAspect="1"/>
          </p:cNvPicPr>
          <p:nvPr/>
        </p:nvPicPr>
        <p:blipFill>
          <a:blip r:embed="rId2"/>
          <a:stretch>
            <a:fillRect/>
          </a:stretch>
        </p:blipFill>
        <p:spPr>
          <a:xfrm>
            <a:off x="2441146" y="1691640"/>
            <a:ext cx="7279227" cy="4114800"/>
          </a:xfrm>
          <a:prstGeom prst="rect">
            <a:avLst/>
          </a:prstGeom>
        </p:spPr>
      </p:pic>
      <p:sp>
        <p:nvSpPr>
          <p:cNvPr id="5" name="TextBox 4"/>
          <p:cNvSpPr txBox="1"/>
          <p:nvPr/>
        </p:nvSpPr>
        <p:spPr>
          <a:xfrm>
            <a:off x="822960" y="5943600"/>
            <a:ext cx="10515600" cy="365760"/>
          </a:xfrm>
          <a:prstGeom prst="rect">
            <a:avLst/>
          </a:prstGeom>
          <a:noFill/>
        </p:spPr>
        <p:txBody>
          <a:bodyPr wrap="square">
            <a:spAutoFit/>
          </a:bodyPr>
          <a:lstStyle/>
          <a:p>
            <a:pPr algn="ctr"/>
            <a:r>
              <a:rPr sz="1100" b="0" i="1">
                <a:solidFill>
                  <a:srgbClr val="365F91"/>
                </a:solidFill>
                <a:latin typeface="Calibri"/>
              </a:rPr>
              <a:t>Photo de classe : 6/6 étudiants reconnus et nommés, 2/2 intrus rejetés (« Inconnu »), ~2 s.</a:t>
            </a:r>
          </a:p>
        </p:txBody>
      </p:sp>
      <p:sp>
        <p:nvSpPr>
          <p:cNvPr id="6" name="Rectangle 5"/>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8" name="TextBox 7"/>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8. Éthique &amp; conformité — loi 09-08</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06240"/>
          </a:xfrm>
          <a:prstGeom prst="rect">
            <a:avLst/>
          </a:prstGeom>
          <a:noFill/>
        </p:spPr>
        <p:txBody>
          <a:bodyPr wrap="square">
            <a:spAutoFit/>
          </a:bodyPr>
          <a:lstStyle/>
          <a:p>
            <a:pPr indent="-274320" marL="274320">
              <a:lnSpc>
                <a:spcPct val="112000"/>
              </a:lnSpc>
              <a:spcAft>
                <a:spcPts val="1400"/>
              </a:spcAft>
              <a:buClr>
                <a:srgbClr val="4F81BD"/>
              </a:buClr>
              <a:buFont typeface="Arial"/>
              <a:buChar char="▪"/>
            </a:pPr>
            <a:r>
              <a:rPr sz="1900" b="0" i="0">
                <a:solidFill>
                  <a:srgbClr val="20242B"/>
                </a:solidFill>
                <a:latin typeface="Calibri"/>
              </a:rPr>
              <a:t>Le visage est une donnée biométrique sensible (loi 09-08, contrôle CNDP).</a:t>
            </a:r>
          </a:p>
          <a:p>
            <a:pPr indent="-274320" marL="274320">
              <a:lnSpc>
                <a:spcPct val="112000"/>
              </a:lnSpc>
              <a:spcAft>
                <a:spcPts val="1400"/>
              </a:spcAft>
              <a:buClr>
                <a:srgbClr val="4F81BD"/>
              </a:buClr>
              <a:buFont typeface="Arial"/>
              <a:buChar char="▪"/>
            </a:pPr>
            <a:r>
              <a:rPr sz="1900" b="0" i="0">
                <a:solidFill>
                  <a:srgbClr val="20242B"/>
                </a:solidFill>
                <a:latin typeface="Calibri"/>
              </a:rPr>
              <a:t>Consentement explicite et écrit de chaque personne enrôlée.</a:t>
            </a:r>
          </a:p>
          <a:p>
            <a:pPr indent="-274320" marL="274320">
              <a:lnSpc>
                <a:spcPct val="112000"/>
              </a:lnSpc>
              <a:spcAft>
                <a:spcPts val="1400"/>
              </a:spcAft>
              <a:buClr>
                <a:srgbClr val="4F81BD"/>
              </a:buClr>
              <a:buFont typeface="Arial"/>
              <a:buChar char="▪"/>
            </a:pPr>
            <a:r>
              <a:rPr sz="1900" b="0" i="0">
                <a:solidFill>
                  <a:srgbClr val="20242B"/>
                </a:solidFill>
                <a:latin typeface="Calibri"/>
              </a:rPr>
              <a:t>Minimisation : on conserve les empreintes plutôt que les images.</a:t>
            </a:r>
          </a:p>
          <a:p>
            <a:pPr indent="-274320" marL="274320">
              <a:lnSpc>
                <a:spcPct val="112000"/>
              </a:lnSpc>
              <a:spcAft>
                <a:spcPts val="1400"/>
              </a:spcAft>
              <a:buClr>
                <a:srgbClr val="4F81BD"/>
              </a:buClr>
              <a:buFont typeface="Arial"/>
              <a:buChar char="▪"/>
            </a:pPr>
            <a:r>
              <a:rPr sz="1900" b="0" i="0">
                <a:solidFill>
                  <a:srgbClr val="20242B"/>
                </a:solidFill>
                <a:latin typeface="Calibri"/>
              </a:rPr>
              <a:t>Finalité déterminée, accès restreint, sécurité, suppression en fin de projet.</a:t>
            </a:r>
          </a:p>
          <a:p>
            <a:pPr indent="-274320" marL="274320">
              <a:lnSpc>
                <a:spcPct val="112000"/>
              </a:lnSpc>
              <a:spcAft>
                <a:spcPts val="1400"/>
              </a:spcAft>
              <a:buClr>
                <a:srgbClr val="4F81BD"/>
              </a:buClr>
              <a:buFont typeface="Arial"/>
              <a:buChar char="▪"/>
            </a:pPr>
            <a:r>
              <a:rPr sz="1900" b="0" i="0">
                <a:solidFill>
                  <a:srgbClr val="20242B"/>
                </a:solidFill>
                <a:latin typeface="Calibri"/>
              </a:rPr>
              <a:t>Droits garantis : accès, rectification, suppression, retrait du consentement.</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868680"/>
          </a:xfrm>
          <a:prstGeom prst="rect">
            <a:avLst/>
          </a:prstGeom>
          <a:noFill/>
        </p:spPr>
        <p:txBody>
          <a:bodyPr wrap="square">
            <a:spAutoFit/>
          </a:bodyPr>
          <a:lstStyle/>
          <a:p>
            <a:r>
              <a:rPr sz="3000" b="1" i="0">
                <a:solidFill>
                  <a:srgbClr val="17365D"/>
                </a:solidFill>
                <a:latin typeface="Calibri"/>
              </a:rPr>
              <a:t>9. Conclusion &amp; perspectives</a:t>
            </a:r>
          </a:p>
        </p:txBody>
      </p:sp>
      <p:sp>
        <p:nvSpPr>
          <p:cNvPr id="3" name="Rectangle 2"/>
          <p:cNvSpPr/>
          <p:nvPr/>
        </p:nvSpPr>
        <p:spPr>
          <a:xfrm>
            <a:off x="841248" y="1325880"/>
            <a:ext cx="1920240" cy="54864"/>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4206240"/>
          </a:xfrm>
          <a:prstGeom prst="rect">
            <a:avLst/>
          </a:prstGeom>
          <a:noFill/>
        </p:spPr>
        <p:txBody>
          <a:bodyPr wrap="square">
            <a:spAutoFit/>
          </a:bodyPr>
          <a:lstStyle/>
          <a:p>
            <a:pPr indent="-274320" marL="274320">
              <a:lnSpc>
                <a:spcPct val="112000"/>
              </a:lnSpc>
              <a:spcAft>
                <a:spcPts val="1400"/>
              </a:spcAft>
              <a:buClr>
                <a:srgbClr val="4F81BD"/>
              </a:buClr>
              <a:buFont typeface="Arial"/>
              <a:buChar char="▪"/>
            </a:pPr>
            <a:r>
              <a:rPr sz="1900" b="0" i="0">
                <a:solidFill>
                  <a:srgbClr val="20242B"/>
                </a:solidFill>
                <a:latin typeface="Calibri"/>
              </a:rPr>
              <a:t>Une application complète : enrôlement → reconnaissance → validation → rapports.</a:t>
            </a:r>
          </a:p>
          <a:p>
            <a:pPr indent="-274320" marL="274320">
              <a:lnSpc>
                <a:spcPct val="112000"/>
              </a:lnSpc>
              <a:spcAft>
                <a:spcPts val="1400"/>
              </a:spcAft>
              <a:buClr>
                <a:srgbClr val="4F81BD"/>
              </a:buClr>
              <a:buFont typeface="Arial"/>
              <a:buChar char="▪"/>
            </a:pPr>
            <a:r>
              <a:rPr sz="1900" b="0" i="0">
                <a:solidFill>
                  <a:srgbClr val="20242B"/>
                </a:solidFill>
                <a:latin typeface="Calibri"/>
              </a:rPr>
              <a:t>Cœur du système validé : 100 % en conditions contrôlées, robuste en multi-visages.</a:t>
            </a:r>
          </a:p>
          <a:p>
            <a:pPr indent="-274320" marL="274320">
              <a:lnSpc>
                <a:spcPct val="112000"/>
              </a:lnSpc>
              <a:spcAft>
                <a:spcPts val="1400"/>
              </a:spcAft>
              <a:buClr>
                <a:srgbClr val="4F81BD"/>
              </a:buClr>
              <a:buFont typeface="Arial"/>
              <a:buChar char="▪"/>
            </a:pPr>
            <a:r>
              <a:rPr sz="1900" b="0" i="0">
                <a:solidFill>
                  <a:srgbClr val="20242B"/>
                </a:solidFill>
                <a:latin typeface="Calibri"/>
              </a:rPr>
              <a:t>Perspectives :</a:t>
            </a:r>
          </a:p>
          <a:p>
            <a:pPr indent="-274320" marL="548640" lvl="1">
              <a:lnSpc>
                <a:spcPct val="112000"/>
              </a:lnSpc>
              <a:spcAft>
                <a:spcPts val="1400"/>
              </a:spcAft>
              <a:buClr>
                <a:srgbClr val="9AB4D4"/>
              </a:buClr>
              <a:buFont typeface="Arial"/>
              <a:buChar char="–"/>
            </a:pPr>
            <a:r>
              <a:rPr sz="1600" b="0" i="0">
                <a:solidFill>
                  <a:srgbClr val="595959"/>
                </a:solidFill>
                <a:latin typeface="Calibri"/>
              </a:rPr>
              <a:t>validation sur une vraie photo de classe (avec consentement) ;</a:t>
            </a:r>
          </a:p>
          <a:p>
            <a:pPr indent="-274320" marL="548640" lvl="1">
              <a:lnSpc>
                <a:spcPct val="112000"/>
              </a:lnSpc>
              <a:spcAft>
                <a:spcPts val="1400"/>
              </a:spcAft>
              <a:buClr>
                <a:srgbClr val="9AB4D4"/>
              </a:buClr>
              <a:buFont typeface="Arial"/>
              <a:buChar char="–"/>
            </a:pPr>
            <a:r>
              <a:rPr sz="1600" b="0" i="0">
                <a:solidFill>
                  <a:srgbClr val="595959"/>
                </a:solidFill>
                <a:latin typeface="Calibri"/>
              </a:rPr>
              <a:t>anti-spoofing éprouvé face à de vraies attaques ; reconnaissance en temps réel ;</a:t>
            </a:r>
          </a:p>
          <a:p>
            <a:pPr indent="-274320" marL="548640" lvl="1">
              <a:lnSpc>
                <a:spcPct val="112000"/>
              </a:lnSpc>
              <a:spcAft>
                <a:spcPts val="1400"/>
              </a:spcAft>
              <a:buClr>
                <a:srgbClr val="9AB4D4"/>
              </a:buClr>
              <a:buFont typeface="Arial"/>
              <a:buChar char="–"/>
            </a:pPr>
            <a:r>
              <a:rPr sz="1600" b="0" i="0">
                <a:solidFill>
                  <a:srgbClr val="595959"/>
                </a:solidFill>
                <a:latin typeface="Calibri"/>
              </a:rPr>
              <a:t>application mobile et intégration au système d'information.</a:t>
            </a:r>
          </a:p>
        </p:txBody>
      </p:sp>
      <p:sp>
        <p:nvSpPr>
          <p:cNvPr id="5" name="Rectangle 4"/>
          <p:cNvSpPr/>
          <p:nvPr/>
        </p:nvSpPr>
        <p:spPr>
          <a:xfrm>
            <a:off x="822960" y="6355080"/>
            <a:ext cx="10543032" cy="10972"/>
          </a:xfrm>
          <a:prstGeom prst="rect">
            <a:avLst/>
          </a:prstGeom>
          <a:solidFill>
            <a:srgbClr val="D0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00800"/>
            <a:ext cx="7315200" cy="320040"/>
          </a:xfrm>
          <a:prstGeom prst="rect">
            <a:avLst/>
          </a:prstGeom>
          <a:noFill/>
        </p:spPr>
        <p:txBody>
          <a:bodyPr wrap="square">
            <a:spAutoFit/>
          </a:bodyPr>
          <a:lstStyle/>
          <a:p>
            <a:r>
              <a:rPr sz="900" b="0" i="0">
                <a:solidFill>
                  <a:srgbClr val="595959"/>
                </a:solidFill>
                <a:latin typeface="Calibri"/>
              </a:rPr>
              <a:t>AI Class Attendance for Students · ISGA — PFA 2025/2026</a:t>
            </a:r>
          </a:p>
        </p:txBody>
      </p:sp>
      <p:sp>
        <p:nvSpPr>
          <p:cNvPr id="7" name="TextBox 6"/>
          <p:cNvSpPr txBox="1"/>
          <p:nvPr/>
        </p:nvSpPr>
        <p:spPr>
          <a:xfrm>
            <a:off x="10424160" y="6400800"/>
            <a:ext cx="941832" cy="320040"/>
          </a:xfrm>
          <a:prstGeom prst="rect">
            <a:avLst/>
          </a:prstGeom>
          <a:noFill/>
        </p:spPr>
        <p:txBody>
          <a:bodyPr wrap="square">
            <a:spAutoFit/>
          </a:bodyPr>
          <a:lstStyle/>
          <a:p>
            <a:pPr algn="r"/>
            <a:r>
              <a:rPr sz="900" b="0" i="0">
                <a:solidFill>
                  <a:srgbClr val="59595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ga-logo.png"/>
          <p:cNvPicPr>
            <a:picLocks noChangeAspect="1"/>
          </p:cNvPicPr>
          <p:nvPr/>
        </p:nvPicPr>
        <p:blipFill>
          <a:blip r:embed="rId2"/>
          <a:stretch>
            <a:fillRect/>
          </a:stretch>
        </p:blipFill>
        <p:spPr>
          <a:xfrm>
            <a:off x="5212080" y="1097280"/>
            <a:ext cx="2377440" cy="914400"/>
          </a:xfrm>
          <a:prstGeom prst="rect">
            <a:avLst/>
          </a:prstGeom>
        </p:spPr>
      </p:pic>
      <p:sp>
        <p:nvSpPr>
          <p:cNvPr id="5" name="TextBox 4"/>
          <p:cNvSpPr txBox="1"/>
          <p:nvPr/>
        </p:nvSpPr>
        <p:spPr>
          <a:xfrm>
            <a:off x="914400" y="2651760"/>
            <a:ext cx="10360152" cy="1463040"/>
          </a:xfrm>
          <a:prstGeom prst="rect">
            <a:avLst/>
          </a:prstGeom>
          <a:noFill/>
        </p:spPr>
        <p:txBody>
          <a:bodyPr wrap="square">
            <a:spAutoFit/>
          </a:bodyPr>
          <a:lstStyle/>
          <a:p>
            <a:pPr algn="ctr"/>
            <a:r>
              <a:rPr sz="4000" b="1" i="0">
                <a:solidFill>
                  <a:srgbClr val="FFFFFF"/>
                </a:solidFill>
                <a:latin typeface="Calibri"/>
              </a:rPr>
              <a:t>Merci de votre attention</a:t>
            </a:r>
          </a:p>
          <a:p>
            <a:pPr algn="ctr">
              <a:spcBef>
                <a:spcPts val="1000"/>
              </a:spcBef>
            </a:pPr>
            <a:r>
              <a:rPr sz="2000" b="0" i="1">
                <a:solidFill>
                  <a:srgbClr val="BED0E8"/>
                </a:solidFill>
                <a:latin typeface="Calibri"/>
              </a:rPr>
              <a:t>Questions &amp; discussion</a:t>
            </a:r>
          </a:p>
        </p:txBody>
      </p:sp>
      <p:sp>
        <p:nvSpPr>
          <p:cNvPr id="6" name="TextBox 5"/>
          <p:cNvSpPr txBox="1"/>
          <p:nvPr/>
        </p:nvSpPr>
        <p:spPr>
          <a:xfrm>
            <a:off x="914400" y="4937760"/>
            <a:ext cx="10360152" cy="914400"/>
          </a:xfrm>
          <a:prstGeom prst="rect">
            <a:avLst/>
          </a:prstGeom>
          <a:noFill/>
        </p:spPr>
        <p:txBody>
          <a:bodyPr wrap="square">
            <a:spAutoFit/>
          </a:bodyPr>
          <a:lstStyle/>
          <a:p>
            <a:pPr algn="ctr"/>
            <a:r>
              <a:rPr sz="1400" b="0" i="0">
                <a:solidFill>
                  <a:srgbClr val="D7E0EF"/>
                </a:solidFill>
                <a:latin typeface="Calibri"/>
              </a:rPr>
              <a:t>BENDADI Mohamed · SADEK Zakaria · BELHASSAN Amine</a:t>
            </a:r>
          </a:p>
          <a:p>
            <a:pPr algn="ctr"/>
            <a:r>
              <a:rPr sz="1300" b="0" i="0">
                <a:solidFill>
                  <a:srgbClr val="BED0E8"/>
                </a:solidFill>
                <a:latin typeface="Calibri"/>
              </a:rPr>
              <a:t>Encadré par M. Adama SAMAKE — ISGA, 2025/2026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